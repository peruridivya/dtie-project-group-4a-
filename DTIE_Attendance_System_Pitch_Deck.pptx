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7" r:id="rId2"/>
  </p:sldMasterIdLst>
  <p:sldIdLst>
    <p:sldId id="271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7" r:id="rId11"/>
    <p:sldId id="263" r:id="rId12"/>
    <p:sldId id="264" r:id="rId13"/>
    <p:sldId id="270" r:id="rId14"/>
    <p:sldId id="265" r:id="rId15"/>
    <p:sldId id="266" r:id="rId16"/>
    <p:sldId id="268" r:id="rId17"/>
    <p:sldId id="272" r:id="rId18"/>
    <p:sldId id="269" r:id="rId1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422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80" dirty="0"/>
              <a:t>Ideathon’24</a:t>
            </a:r>
            <a:r>
              <a:rPr spc="-100" dirty="0"/>
              <a:t> </a:t>
            </a:r>
            <a:r>
              <a:rPr spc="-75" dirty="0"/>
              <a:t>E6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spc="-90" dirty="0"/>
              <a:t>ACIC</a:t>
            </a:r>
            <a:r>
              <a:rPr spc="-110" dirty="0"/>
              <a:t> </a:t>
            </a:r>
            <a:r>
              <a:rPr spc="-140" dirty="0"/>
              <a:t>KL</a:t>
            </a:r>
            <a:r>
              <a:rPr spc="-90" dirty="0"/>
              <a:t> </a:t>
            </a:r>
            <a:r>
              <a:rPr spc="-85" dirty="0"/>
              <a:t>Startups</a:t>
            </a:r>
            <a:r>
              <a:rPr spc="-105" dirty="0"/>
              <a:t> </a:t>
            </a:r>
            <a:r>
              <a:rPr spc="-50" dirty="0"/>
              <a:t>Foundation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80" dirty="0"/>
              <a:t>Ideathon’24</a:t>
            </a:r>
            <a:r>
              <a:rPr spc="-100" dirty="0"/>
              <a:t> </a:t>
            </a:r>
            <a:r>
              <a:rPr spc="-75" dirty="0"/>
              <a:t>E6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spc="-90" dirty="0"/>
              <a:t>ACIC</a:t>
            </a:r>
            <a:r>
              <a:rPr spc="-110" dirty="0"/>
              <a:t> </a:t>
            </a:r>
            <a:r>
              <a:rPr spc="-140" dirty="0"/>
              <a:t>KL</a:t>
            </a:r>
            <a:r>
              <a:rPr spc="-90" dirty="0"/>
              <a:t> </a:t>
            </a:r>
            <a:r>
              <a:rPr spc="-85" dirty="0"/>
              <a:t>Startups</a:t>
            </a:r>
            <a:r>
              <a:rPr spc="-105" dirty="0"/>
              <a:t> </a:t>
            </a:r>
            <a:r>
              <a:rPr spc="-50" dirty="0"/>
              <a:t>Foundation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80" dirty="0"/>
              <a:t>Ideathon’24</a:t>
            </a:r>
            <a:r>
              <a:rPr spc="-100" dirty="0"/>
              <a:t> </a:t>
            </a:r>
            <a:r>
              <a:rPr spc="-75" dirty="0"/>
              <a:t>E6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spc="-90" dirty="0"/>
              <a:t>ACIC</a:t>
            </a:r>
            <a:r>
              <a:rPr spc="-110" dirty="0"/>
              <a:t> </a:t>
            </a:r>
            <a:r>
              <a:rPr spc="-140" dirty="0"/>
              <a:t>KL</a:t>
            </a:r>
            <a:r>
              <a:rPr spc="-90" dirty="0"/>
              <a:t> </a:t>
            </a:r>
            <a:r>
              <a:rPr spc="-85" dirty="0"/>
              <a:t>Startups</a:t>
            </a:r>
            <a:r>
              <a:rPr spc="-105" dirty="0"/>
              <a:t> </a:t>
            </a:r>
            <a:r>
              <a:rPr spc="-50" dirty="0"/>
              <a:t>Foundation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80" dirty="0"/>
              <a:t>Ideathon’24</a:t>
            </a:r>
            <a:r>
              <a:rPr spc="-100" dirty="0"/>
              <a:t> </a:t>
            </a:r>
            <a:r>
              <a:rPr spc="-75" dirty="0"/>
              <a:t>E6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spc="-90" dirty="0"/>
              <a:t>ACIC</a:t>
            </a:r>
            <a:r>
              <a:rPr spc="-110" dirty="0"/>
              <a:t> </a:t>
            </a:r>
            <a:r>
              <a:rPr spc="-140" dirty="0"/>
              <a:t>KL</a:t>
            </a:r>
            <a:r>
              <a:rPr spc="-90" dirty="0"/>
              <a:t> </a:t>
            </a:r>
            <a:r>
              <a:rPr spc="-85" dirty="0"/>
              <a:t>Startups</a:t>
            </a:r>
            <a:r>
              <a:rPr spc="-105" dirty="0"/>
              <a:t> </a:t>
            </a:r>
            <a:r>
              <a:rPr spc="-50" dirty="0"/>
              <a:t>Foundation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80" dirty="0"/>
              <a:t>Ideathon’24</a:t>
            </a:r>
            <a:r>
              <a:rPr spc="-100" dirty="0"/>
              <a:t> </a:t>
            </a:r>
            <a:r>
              <a:rPr spc="-75" dirty="0"/>
              <a:t>E6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spc="-90" dirty="0"/>
              <a:t>ACIC</a:t>
            </a:r>
            <a:r>
              <a:rPr spc="-110" dirty="0"/>
              <a:t> </a:t>
            </a:r>
            <a:r>
              <a:rPr spc="-140" dirty="0"/>
              <a:t>KL</a:t>
            </a:r>
            <a:r>
              <a:rPr spc="-90" dirty="0"/>
              <a:t> </a:t>
            </a:r>
            <a:r>
              <a:rPr spc="-85" dirty="0"/>
              <a:t>Startups</a:t>
            </a:r>
            <a:r>
              <a:rPr spc="-105" dirty="0"/>
              <a:t> </a:t>
            </a:r>
            <a:r>
              <a:rPr spc="-50" dirty="0"/>
              <a:t>Foundation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990590"/>
            <a:ext cx="10363200" cy="519373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07749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68" indent="0" algn="ctr">
              <a:buNone/>
              <a:defRPr sz="1125"/>
            </a:lvl2pPr>
            <a:lvl3pPr marL="514336" indent="0" algn="ctr">
              <a:buNone/>
              <a:defRPr sz="1012"/>
            </a:lvl3pPr>
            <a:lvl4pPr marL="771504" indent="0" algn="ctr">
              <a:buNone/>
              <a:defRPr sz="900"/>
            </a:lvl4pPr>
            <a:lvl5pPr marL="1028673" indent="0" algn="ctr">
              <a:buNone/>
              <a:defRPr sz="900"/>
            </a:lvl5pPr>
            <a:lvl6pPr marL="1285841" indent="0" algn="ctr">
              <a:buNone/>
              <a:defRPr sz="900"/>
            </a:lvl6pPr>
            <a:lvl7pPr marL="1543009" indent="0" algn="ctr">
              <a:buNone/>
              <a:defRPr sz="900"/>
            </a:lvl7pPr>
            <a:lvl8pPr marL="1800177" indent="0" algn="ctr">
              <a:buNone/>
              <a:defRPr sz="900"/>
            </a:lvl8pPr>
            <a:lvl9pPr marL="2057345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77940"/>
            <a:ext cx="2804160" cy="276999"/>
          </a:xfrm>
        </p:spPr>
        <p:txBody>
          <a:bodyPr/>
          <a:lstStyle/>
          <a:p>
            <a:fld id="{00FDDA57-53CB-4047-96A9-7BC247C68478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57065" y="6432753"/>
            <a:ext cx="4277995" cy="276999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2CF9A87E-2015-4F0E-ADB7-E5B47F594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793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marL="12700">
              <a:lnSpc>
                <a:spcPts val="1810"/>
              </a:lnSpc>
            </a:pPr>
            <a:r>
              <a:rPr lang="en-US" spc="-80"/>
              <a:t>Ideathon’24</a:t>
            </a:r>
            <a:r>
              <a:rPr lang="en-US" spc="-100"/>
              <a:t> </a:t>
            </a:r>
            <a:r>
              <a:rPr lang="en-US" spc="-75"/>
              <a:t>E6</a:t>
            </a:r>
            <a:r>
              <a:rPr lang="en-US" spc="-114"/>
              <a:t> </a:t>
            </a:r>
            <a:r>
              <a:rPr lang="en-US" spc="-130"/>
              <a:t>|</a:t>
            </a:r>
            <a:r>
              <a:rPr lang="en-US" spc="-110"/>
              <a:t> </a:t>
            </a:r>
            <a:r>
              <a:rPr lang="en-US" spc="-90"/>
              <a:t>ACIC</a:t>
            </a:r>
            <a:r>
              <a:rPr lang="en-US" spc="-110"/>
              <a:t> </a:t>
            </a:r>
            <a:r>
              <a:rPr lang="en-US" spc="-140"/>
              <a:t>KL</a:t>
            </a:r>
            <a:r>
              <a:rPr lang="en-US" spc="-90"/>
              <a:t> </a:t>
            </a:r>
            <a:r>
              <a:rPr lang="en-US" spc="-85"/>
              <a:t>Startups</a:t>
            </a:r>
            <a:r>
              <a:rPr lang="en-US" spc="-105"/>
              <a:t> </a:t>
            </a:r>
            <a:r>
              <a:rPr lang="en-US" spc="-50"/>
              <a:t>Foundation</a:t>
            </a:r>
            <a:endParaRPr lang="en-US" spc="-50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568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marL="12700">
              <a:lnSpc>
                <a:spcPts val="1810"/>
              </a:lnSpc>
            </a:pPr>
            <a:r>
              <a:rPr lang="en-US" spc="-80"/>
              <a:t>Ideathon’24</a:t>
            </a:r>
            <a:r>
              <a:rPr lang="en-US" spc="-100"/>
              <a:t> </a:t>
            </a:r>
            <a:r>
              <a:rPr lang="en-US" spc="-75"/>
              <a:t>E6</a:t>
            </a:r>
            <a:r>
              <a:rPr lang="en-US" spc="-114"/>
              <a:t> </a:t>
            </a:r>
            <a:r>
              <a:rPr lang="en-US" spc="-130"/>
              <a:t>|</a:t>
            </a:r>
            <a:r>
              <a:rPr lang="en-US" spc="-110"/>
              <a:t> </a:t>
            </a:r>
            <a:r>
              <a:rPr lang="en-US" spc="-90"/>
              <a:t>ACIC</a:t>
            </a:r>
            <a:r>
              <a:rPr lang="en-US" spc="-110"/>
              <a:t> </a:t>
            </a:r>
            <a:r>
              <a:rPr lang="en-US" spc="-140"/>
              <a:t>KL</a:t>
            </a:r>
            <a:r>
              <a:rPr lang="en-US" spc="-90"/>
              <a:t> </a:t>
            </a:r>
            <a:r>
              <a:rPr lang="en-US" spc="-85"/>
              <a:t>Startups</a:t>
            </a:r>
            <a:r>
              <a:rPr lang="en-US" spc="-105"/>
              <a:t> </a:t>
            </a:r>
            <a:r>
              <a:rPr lang="en-US" spc="-50"/>
              <a:t>Foundation</a:t>
            </a:r>
            <a:endParaRPr lang="en-US" spc="-5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8712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pPr marL="12700">
              <a:lnSpc>
                <a:spcPts val="1810"/>
              </a:lnSpc>
            </a:pPr>
            <a:r>
              <a:rPr lang="en-US" spc="-80"/>
              <a:t>Ideathon’24</a:t>
            </a:r>
            <a:r>
              <a:rPr lang="en-US" spc="-100"/>
              <a:t> </a:t>
            </a:r>
            <a:r>
              <a:rPr lang="en-US" spc="-75"/>
              <a:t>E6</a:t>
            </a:r>
            <a:r>
              <a:rPr lang="en-US" spc="-114"/>
              <a:t> </a:t>
            </a:r>
            <a:r>
              <a:rPr lang="en-US" spc="-130"/>
              <a:t>|</a:t>
            </a:r>
            <a:r>
              <a:rPr lang="en-US" spc="-110"/>
              <a:t> </a:t>
            </a:r>
            <a:r>
              <a:rPr lang="en-US" spc="-90"/>
              <a:t>ACIC</a:t>
            </a:r>
            <a:r>
              <a:rPr lang="en-US" spc="-110"/>
              <a:t> </a:t>
            </a:r>
            <a:r>
              <a:rPr lang="en-US" spc="-140"/>
              <a:t>KL</a:t>
            </a:r>
            <a:r>
              <a:rPr lang="en-US" spc="-90"/>
              <a:t> </a:t>
            </a:r>
            <a:r>
              <a:rPr lang="en-US" spc="-85"/>
              <a:t>Startups</a:t>
            </a:r>
            <a:r>
              <a:rPr lang="en-US" spc="-105"/>
              <a:t> </a:t>
            </a:r>
            <a:r>
              <a:rPr lang="en-US" spc="-50"/>
              <a:t>Foundation</a:t>
            </a:r>
            <a:endParaRPr lang="en-US" spc="-5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633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810"/>
              </a:lnSpc>
            </a:pPr>
            <a:r>
              <a:rPr lang="en-US" spc="-80"/>
              <a:t>Ideathon’24</a:t>
            </a:r>
            <a:r>
              <a:rPr lang="en-US" spc="-100"/>
              <a:t> </a:t>
            </a:r>
            <a:r>
              <a:rPr lang="en-US" spc="-75"/>
              <a:t>E6</a:t>
            </a:r>
            <a:r>
              <a:rPr lang="en-US" spc="-114"/>
              <a:t> </a:t>
            </a:r>
            <a:r>
              <a:rPr lang="en-US" spc="-130"/>
              <a:t>|</a:t>
            </a:r>
            <a:r>
              <a:rPr lang="en-US" spc="-110"/>
              <a:t> </a:t>
            </a:r>
            <a:r>
              <a:rPr lang="en-US" spc="-90"/>
              <a:t>ACIC</a:t>
            </a:r>
            <a:r>
              <a:rPr lang="en-US" spc="-110"/>
              <a:t> </a:t>
            </a:r>
            <a:r>
              <a:rPr lang="en-US" spc="-140"/>
              <a:t>KL</a:t>
            </a:r>
            <a:r>
              <a:rPr lang="en-US" spc="-90"/>
              <a:t> </a:t>
            </a:r>
            <a:r>
              <a:rPr lang="en-US" spc="-85"/>
              <a:t>Startups</a:t>
            </a:r>
            <a:r>
              <a:rPr lang="en-US" spc="-105"/>
              <a:t> </a:t>
            </a:r>
            <a:r>
              <a:rPr lang="en-US" spc="-50"/>
              <a:t>Foundation</a:t>
            </a:r>
            <a:endParaRPr lang="en-US" spc="-50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431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810"/>
              </a:lnSpc>
            </a:pPr>
            <a:r>
              <a:rPr lang="en-US" spc="-80"/>
              <a:t>Ideathon’24</a:t>
            </a:r>
            <a:r>
              <a:rPr lang="en-US" spc="-100"/>
              <a:t> </a:t>
            </a:r>
            <a:r>
              <a:rPr lang="en-US" spc="-75"/>
              <a:t>E6</a:t>
            </a:r>
            <a:r>
              <a:rPr lang="en-US" spc="-114"/>
              <a:t> </a:t>
            </a:r>
            <a:r>
              <a:rPr lang="en-US" spc="-130"/>
              <a:t>|</a:t>
            </a:r>
            <a:r>
              <a:rPr lang="en-US" spc="-110"/>
              <a:t> </a:t>
            </a:r>
            <a:r>
              <a:rPr lang="en-US" spc="-90"/>
              <a:t>ACIC</a:t>
            </a:r>
            <a:r>
              <a:rPr lang="en-US" spc="-110"/>
              <a:t> </a:t>
            </a:r>
            <a:r>
              <a:rPr lang="en-US" spc="-140"/>
              <a:t>KL</a:t>
            </a:r>
            <a:r>
              <a:rPr lang="en-US" spc="-90"/>
              <a:t> </a:t>
            </a:r>
            <a:r>
              <a:rPr lang="en-US" spc="-85"/>
              <a:t>Startups</a:t>
            </a:r>
            <a:r>
              <a:rPr lang="en-US" spc="-105"/>
              <a:t> </a:t>
            </a:r>
            <a:r>
              <a:rPr lang="en-US" spc="-50"/>
              <a:t>Foundation</a:t>
            </a:r>
            <a:endParaRPr lang="en-US" spc="-5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8961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pPr marL="12700">
              <a:lnSpc>
                <a:spcPts val="1810"/>
              </a:lnSpc>
            </a:pPr>
            <a:r>
              <a:rPr lang="en-US" spc="-80"/>
              <a:t>Ideathon’24</a:t>
            </a:r>
            <a:r>
              <a:rPr lang="en-US" spc="-100"/>
              <a:t> </a:t>
            </a:r>
            <a:r>
              <a:rPr lang="en-US" spc="-75"/>
              <a:t>E6</a:t>
            </a:r>
            <a:r>
              <a:rPr lang="en-US" spc="-114"/>
              <a:t> </a:t>
            </a:r>
            <a:r>
              <a:rPr lang="en-US" spc="-130"/>
              <a:t>|</a:t>
            </a:r>
            <a:r>
              <a:rPr lang="en-US" spc="-110"/>
              <a:t> </a:t>
            </a:r>
            <a:r>
              <a:rPr lang="en-US" spc="-90"/>
              <a:t>ACIC</a:t>
            </a:r>
            <a:r>
              <a:rPr lang="en-US" spc="-110"/>
              <a:t> </a:t>
            </a:r>
            <a:r>
              <a:rPr lang="en-US" spc="-140"/>
              <a:t>KL</a:t>
            </a:r>
            <a:r>
              <a:rPr lang="en-US" spc="-90"/>
              <a:t> </a:t>
            </a:r>
            <a:r>
              <a:rPr lang="en-US" spc="-85"/>
              <a:t>Startups</a:t>
            </a:r>
            <a:r>
              <a:rPr lang="en-US" spc="-105"/>
              <a:t> </a:t>
            </a:r>
            <a:r>
              <a:rPr lang="en-US" spc="-50"/>
              <a:t>Foundation</a:t>
            </a:r>
            <a:endParaRPr lang="en-US" spc="-50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2572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12700">
              <a:lnSpc>
                <a:spcPts val="1810"/>
              </a:lnSpc>
            </a:pPr>
            <a:r>
              <a:rPr lang="en-US" spc="-80"/>
              <a:t>Ideathon’24</a:t>
            </a:r>
            <a:r>
              <a:rPr lang="en-US" spc="-100"/>
              <a:t> </a:t>
            </a:r>
            <a:r>
              <a:rPr lang="en-US" spc="-75"/>
              <a:t>E6</a:t>
            </a:r>
            <a:r>
              <a:rPr lang="en-US" spc="-114"/>
              <a:t> </a:t>
            </a:r>
            <a:r>
              <a:rPr lang="en-US" spc="-130"/>
              <a:t>|</a:t>
            </a:r>
            <a:r>
              <a:rPr lang="en-US" spc="-110"/>
              <a:t> </a:t>
            </a:r>
            <a:r>
              <a:rPr lang="en-US" spc="-90"/>
              <a:t>ACIC</a:t>
            </a:r>
            <a:r>
              <a:rPr lang="en-US" spc="-110"/>
              <a:t> </a:t>
            </a:r>
            <a:r>
              <a:rPr lang="en-US" spc="-140"/>
              <a:t>KL</a:t>
            </a:r>
            <a:r>
              <a:rPr lang="en-US" spc="-90"/>
              <a:t> </a:t>
            </a:r>
            <a:r>
              <a:rPr lang="en-US" spc="-85"/>
              <a:t>Startups</a:t>
            </a:r>
            <a:r>
              <a:rPr lang="en-US" spc="-105"/>
              <a:t> </a:t>
            </a:r>
            <a:r>
              <a:rPr lang="en-US" spc="-50"/>
              <a:t>Foundation</a:t>
            </a:r>
            <a:endParaRPr lang="en-US" spc="-5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39438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marL="12700">
              <a:lnSpc>
                <a:spcPts val="1810"/>
              </a:lnSpc>
            </a:pPr>
            <a:r>
              <a:rPr lang="en-US" spc="-80"/>
              <a:t>Ideathon’24</a:t>
            </a:r>
            <a:r>
              <a:rPr lang="en-US" spc="-100"/>
              <a:t> </a:t>
            </a:r>
            <a:r>
              <a:rPr lang="en-US" spc="-75"/>
              <a:t>E6</a:t>
            </a:r>
            <a:r>
              <a:rPr lang="en-US" spc="-114"/>
              <a:t> </a:t>
            </a:r>
            <a:r>
              <a:rPr lang="en-US" spc="-130"/>
              <a:t>|</a:t>
            </a:r>
            <a:r>
              <a:rPr lang="en-US" spc="-110"/>
              <a:t> </a:t>
            </a:r>
            <a:r>
              <a:rPr lang="en-US" spc="-90"/>
              <a:t>ACIC</a:t>
            </a:r>
            <a:r>
              <a:rPr lang="en-US" spc="-110"/>
              <a:t> </a:t>
            </a:r>
            <a:r>
              <a:rPr lang="en-US" spc="-140"/>
              <a:t>KL</a:t>
            </a:r>
            <a:r>
              <a:rPr lang="en-US" spc="-90"/>
              <a:t> </a:t>
            </a:r>
            <a:r>
              <a:rPr lang="en-US" spc="-85"/>
              <a:t>Startups</a:t>
            </a:r>
            <a:r>
              <a:rPr lang="en-US" spc="-105"/>
              <a:t> </a:t>
            </a:r>
            <a:r>
              <a:rPr lang="en-US" spc="-50"/>
              <a:t>Foundation</a:t>
            </a:r>
            <a:endParaRPr lang="en-US" spc="-5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14577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pPr marL="12700">
              <a:lnSpc>
                <a:spcPts val="1810"/>
              </a:lnSpc>
            </a:pPr>
            <a:r>
              <a:rPr lang="en-US" spc="-80"/>
              <a:t>Ideathon’24</a:t>
            </a:r>
            <a:r>
              <a:rPr lang="en-US" spc="-100"/>
              <a:t> </a:t>
            </a:r>
            <a:r>
              <a:rPr lang="en-US" spc="-75"/>
              <a:t>E6</a:t>
            </a:r>
            <a:r>
              <a:rPr lang="en-US" spc="-114"/>
              <a:t> </a:t>
            </a:r>
            <a:r>
              <a:rPr lang="en-US" spc="-130"/>
              <a:t>|</a:t>
            </a:r>
            <a:r>
              <a:rPr lang="en-US" spc="-110"/>
              <a:t> </a:t>
            </a:r>
            <a:r>
              <a:rPr lang="en-US" spc="-90"/>
              <a:t>ACIC</a:t>
            </a:r>
            <a:r>
              <a:rPr lang="en-US" spc="-110"/>
              <a:t> </a:t>
            </a:r>
            <a:r>
              <a:rPr lang="en-US" spc="-140"/>
              <a:t>KL</a:t>
            </a:r>
            <a:r>
              <a:rPr lang="en-US" spc="-90"/>
              <a:t> </a:t>
            </a:r>
            <a:r>
              <a:rPr lang="en-US" spc="-85"/>
              <a:t>Startups</a:t>
            </a:r>
            <a:r>
              <a:rPr lang="en-US" spc="-105"/>
              <a:t> </a:t>
            </a:r>
            <a:r>
              <a:rPr lang="en-US" spc="-50"/>
              <a:t>Foundation</a:t>
            </a:r>
            <a:endParaRPr lang="en-US" spc="-5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103516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pPr marL="12700">
              <a:lnSpc>
                <a:spcPts val="1810"/>
              </a:lnSpc>
            </a:pPr>
            <a:r>
              <a:rPr lang="en-US" spc="-80"/>
              <a:t>Ideathon’24</a:t>
            </a:r>
            <a:r>
              <a:rPr lang="en-US" spc="-100"/>
              <a:t> </a:t>
            </a:r>
            <a:r>
              <a:rPr lang="en-US" spc="-75"/>
              <a:t>E6</a:t>
            </a:r>
            <a:r>
              <a:rPr lang="en-US" spc="-114"/>
              <a:t> </a:t>
            </a:r>
            <a:r>
              <a:rPr lang="en-US" spc="-130"/>
              <a:t>|</a:t>
            </a:r>
            <a:r>
              <a:rPr lang="en-US" spc="-110"/>
              <a:t> </a:t>
            </a:r>
            <a:r>
              <a:rPr lang="en-US" spc="-90"/>
              <a:t>ACIC</a:t>
            </a:r>
            <a:r>
              <a:rPr lang="en-US" spc="-110"/>
              <a:t> </a:t>
            </a:r>
            <a:r>
              <a:rPr lang="en-US" spc="-140"/>
              <a:t>KL</a:t>
            </a:r>
            <a:r>
              <a:rPr lang="en-US" spc="-90"/>
              <a:t> </a:t>
            </a:r>
            <a:r>
              <a:rPr lang="en-US" spc="-85"/>
              <a:t>Startups</a:t>
            </a:r>
            <a:r>
              <a:rPr lang="en-US" spc="-105"/>
              <a:t> </a:t>
            </a:r>
            <a:r>
              <a:rPr lang="en-US" spc="-50"/>
              <a:t>Foundation</a:t>
            </a:r>
            <a:endParaRPr lang="en-US" spc="-5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23368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pPr marL="12700">
              <a:lnSpc>
                <a:spcPts val="1810"/>
              </a:lnSpc>
            </a:pPr>
            <a:r>
              <a:rPr lang="en-US" spc="-80"/>
              <a:t>Ideathon’24</a:t>
            </a:r>
            <a:r>
              <a:rPr lang="en-US" spc="-100"/>
              <a:t> </a:t>
            </a:r>
            <a:r>
              <a:rPr lang="en-US" spc="-75"/>
              <a:t>E6</a:t>
            </a:r>
            <a:r>
              <a:rPr lang="en-US" spc="-114"/>
              <a:t> </a:t>
            </a:r>
            <a:r>
              <a:rPr lang="en-US" spc="-130"/>
              <a:t>|</a:t>
            </a:r>
            <a:r>
              <a:rPr lang="en-US" spc="-110"/>
              <a:t> </a:t>
            </a:r>
            <a:r>
              <a:rPr lang="en-US" spc="-90"/>
              <a:t>ACIC</a:t>
            </a:r>
            <a:r>
              <a:rPr lang="en-US" spc="-110"/>
              <a:t> </a:t>
            </a:r>
            <a:r>
              <a:rPr lang="en-US" spc="-140"/>
              <a:t>KL</a:t>
            </a:r>
            <a:r>
              <a:rPr lang="en-US" spc="-90"/>
              <a:t> </a:t>
            </a:r>
            <a:r>
              <a:rPr lang="en-US" spc="-85"/>
              <a:t>Startups</a:t>
            </a:r>
            <a:r>
              <a:rPr lang="en-US" spc="-105"/>
              <a:t> </a:t>
            </a:r>
            <a:r>
              <a:rPr lang="en-US" spc="-50"/>
              <a:t>Foundation</a:t>
            </a:r>
            <a:endParaRPr lang="en-US" spc="-5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53613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pPr marL="12700">
              <a:lnSpc>
                <a:spcPts val="1810"/>
              </a:lnSpc>
            </a:pPr>
            <a:r>
              <a:rPr lang="en-US" spc="-80"/>
              <a:t>Ideathon’24</a:t>
            </a:r>
            <a:r>
              <a:rPr lang="en-US" spc="-100"/>
              <a:t> </a:t>
            </a:r>
            <a:r>
              <a:rPr lang="en-US" spc="-75"/>
              <a:t>E6</a:t>
            </a:r>
            <a:r>
              <a:rPr lang="en-US" spc="-114"/>
              <a:t> </a:t>
            </a:r>
            <a:r>
              <a:rPr lang="en-US" spc="-130"/>
              <a:t>|</a:t>
            </a:r>
            <a:r>
              <a:rPr lang="en-US" spc="-110"/>
              <a:t> </a:t>
            </a:r>
            <a:r>
              <a:rPr lang="en-US" spc="-90"/>
              <a:t>ACIC</a:t>
            </a:r>
            <a:r>
              <a:rPr lang="en-US" spc="-110"/>
              <a:t> </a:t>
            </a:r>
            <a:r>
              <a:rPr lang="en-US" spc="-140"/>
              <a:t>KL</a:t>
            </a:r>
            <a:r>
              <a:rPr lang="en-US" spc="-90"/>
              <a:t> </a:t>
            </a:r>
            <a:r>
              <a:rPr lang="en-US" spc="-85"/>
              <a:t>Startups</a:t>
            </a:r>
            <a:r>
              <a:rPr lang="en-US" spc="-105"/>
              <a:t> </a:t>
            </a:r>
            <a:r>
              <a:rPr lang="en-US" spc="-50"/>
              <a:t>Foundation</a:t>
            </a:r>
            <a:endParaRPr lang="en-US" spc="-5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8743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pPr marL="12700">
              <a:lnSpc>
                <a:spcPts val="1810"/>
              </a:lnSpc>
            </a:pPr>
            <a:r>
              <a:rPr lang="en-US" spc="-80"/>
              <a:t>Ideathon’24</a:t>
            </a:r>
            <a:r>
              <a:rPr lang="en-US" spc="-100"/>
              <a:t> </a:t>
            </a:r>
            <a:r>
              <a:rPr lang="en-US" spc="-75"/>
              <a:t>E6</a:t>
            </a:r>
            <a:r>
              <a:rPr lang="en-US" spc="-114"/>
              <a:t> </a:t>
            </a:r>
            <a:r>
              <a:rPr lang="en-US" spc="-130"/>
              <a:t>|</a:t>
            </a:r>
            <a:r>
              <a:rPr lang="en-US" spc="-110"/>
              <a:t> </a:t>
            </a:r>
            <a:r>
              <a:rPr lang="en-US" spc="-90"/>
              <a:t>ACIC</a:t>
            </a:r>
            <a:r>
              <a:rPr lang="en-US" spc="-110"/>
              <a:t> </a:t>
            </a:r>
            <a:r>
              <a:rPr lang="en-US" spc="-140"/>
              <a:t>KL</a:t>
            </a:r>
            <a:r>
              <a:rPr lang="en-US" spc="-90"/>
              <a:t> </a:t>
            </a:r>
            <a:r>
              <a:rPr lang="en-US" spc="-85"/>
              <a:t>Startups</a:t>
            </a:r>
            <a:r>
              <a:rPr lang="en-US" spc="-105"/>
              <a:t> </a:t>
            </a:r>
            <a:r>
              <a:rPr lang="en-US" spc="-50"/>
              <a:t>Foundation</a:t>
            </a:r>
            <a:endParaRPr lang="en-US" spc="-5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5250753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pPr marL="12700">
              <a:lnSpc>
                <a:spcPts val="1810"/>
              </a:lnSpc>
            </a:pPr>
            <a:r>
              <a:rPr lang="en-US" spc="-80"/>
              <a:t>Ideathon’24</a:t>
            </a:r>
            <a:r>
              <a:rPr lang="en-US" spc="-100"/>
              <a:t> </a:t>
            </a:r>
            <a:r>
              <a:rPr lang="en-US" spc="-75"/>
              <a:t>E6</a:t>
            </a:r>
            <a:r>
              <a:rPr lang="en-US" spc="-114"/>
              <a:t> </a:t>
            </a:r>
            <a:r>
              <a:rPr lang="en-US" spc="-130"/>
              <a:t>|</a:t>
            </a:r>
            <a:r>
              <a:rPr lang="en-US" spc="-110"/>
              <a:t> </a:t>
            </a:r>
            <a:r>
              <a:rPr lang="en-US" spc="-90"/>
              <a:t>ACIC</a:t>
            </a:r>
            <a:r>
              <a:rPr lang="en-US" spc="-110"/>
              <a:t> </a:t>
            </a:r>
            <a:r>
              <a:rPr lang="en-US" spc="-140"/>
              <a:t>KL</a:t>
            </a:r>
            <a:r>
              <a:rPr lang="en-US" spc="-90"/>
              <a:t> </a:t>
            </a:r>
            <a:r>
              <a:rPr lang="en-US" spc="-85"/>
              <a:t>Startups</a:t>
            </a:r>
            <a:r>
              <a:rPr lang="en-US" spc="-105"/>
              <a:t> </a:t>
            </a:r>
            <a:r>
              <a:rPr lang="en-US" spc="-50"/>
              <a:t>Foundation</a:t>
            </a:r>
            <a:endParaRPr lang="en-US" spc="-50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30979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pPr marL="12700">
              <a:lnSpc>
                <a:spcPts val="1810"/>
              </a:lnSpc>
            </a:pPr>
            <a:r>
              <a:rPr lang="en-US" spc="-80"/>
              <a:t>Ideathon’24</a:t>
            </a:r>
            <a:r>
              <a:rPr lang="en-US" spc="-100"/>
              <a:t> </a:t>
            </a:r>
            <a:r>
              <a:rPr lang="en-US" spc="-75"/>
              <a:t>E6</a:t>
            </a:r>
            <a:r>
              <a:rPr lang="en-US" spc="-114"/>
              <a:t> </a:t>
            </a:r>
            <a:r>
              <a:rPr lang="en-US" spc="-130"/>
              <a:t>|</a:t>
            </a:r>
            <a:r>
              <a:rPr lang="en-US" spc="-110"/>
              <a:t> </a:t>
            </a:r>
            <a:r>
              <a:rPr lang="en-US" spc="-90"/>
              <a:t>ACIC</a:t>
            </a:r>
            <a:r>
              <a:rPr lang="en-US" spc="-110"/>
              <a:t> </a:t>
            </a:r>
            <a:r>
              <a:rPr lang="en-US" spc="-140"/>
              <a:t>KL</a:t>
            </a:r>
            <a:r>
              <a:rPr lang="en-US" spc="-90"/>
              <a:t> </a:t>
            </a:r>
            <a:r>
              <a:rPr lang="en-US" spc="-85"/>
              <a:t>Startups</a:t>
            </a:r>
            <a:r>
              <a:rPr lang="en-US" spc="-105"/>
              <a:t> </a:t>
            </a:r>
            <a:r>
              <a:rPr lang="en-US" spc="-50"/>
              <a:t>Foundation</a:t>
            </a:r>
            <a:endParaRPr lang="en-US" spc="-5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8706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pPr marL="12700">
              <a:lnSpc>
                <a:spcPts val="1810"/>
              </a:lnSpc>
            </a:pPr>
            <a:r>
              <a:rPr lang="en-US" spc="-80"/>
              <a:t>Ideathon’24</a:t>
            </a:r>
            <a:r>
              <a:rPr lang="en-US" spc="-100"/>
              <a:t> </a:t>
            </a:r>
            <a:r>
              <a:rPr lang="en-US" spc="-75"/>
              <a:t>E6</a:t>
            </a:r>
            <a:r>
              <a:rPr lang="en-US" spc="-114"/>
              <a:t> </a:t>
            </a:r>
            <a:r>
              <a:rPr lang="en-US" spc="-130"/>
              <a:t>|</a:t>
            </a:r>
            <a:r>
              <a:rPr lang="en-US" spc="-110"/>
              <a:t> </a:t>
            </a:r>
            <a:r>
              <a:rPr lang="en-US" spc="-90"/>
              <a:t>ACIC</a:t>
            </a:r>
            <a:r>
              <a:rPr lang="en-US" spc="-110"/>
              <a:t> </a:t>
            </a:r>
            <a:r>
              <a:rPr lang="en-US" spc="-140"/>
              <a:t>KL</a:t>
            </a:r>
            <a:r>
              <a:rPr lang="en-US" spc="-90"/>
              <a:t> </a:t>
            </a:r>
            <a:r>
              <a:rPr lang="en-US" spc="-85"/>
              <a:t>Startups</a:t>
            </a:r>
            <a:r>
              <a:rPr lang="en-US" spc="-105"/>
              <a:t> </a:t>
            </a:r>
            <a:r>
              <a:rPr lang="en-US" spc="-50"/>
              <a:t>Foundation</a:t>
            </a:r>
            <a:endParaRPr lang="en-US" spc="-50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64579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pPr marL="12700">
              <a:lnSpc>
                <a:spcPts val="1810"/>
              </a:lnSpc>
            </a:pPr>
            <a:r>
              <a:rPr lang="en-US" spc="-80"/>
              <a:t>Ideathon’24</a:t>
            </a:r>
            <a:r>
              <a:rPr lang="en-US" spc="-100"/>
              <a:t> </a:t>
            </a:r>
            <a:r>
              <a:rPr lang="en-US" spc="-75"/>
              <a:t>E6</a:t>
            </a:r>
            <a:r>
              <a:rPr lang="en-US" spc="-114"/>
              <a:t> </a:t>
            </a:r>
            <a:r>
              <a:rPr lang="en-US" spc="-130"/>
              <a:t>|</a:t>
            </a:r>
            <a:r>
              <a:rPr lang="en-US" spc="-110"/>
              <a:t> </a:t>
            </a:r>
            <a:r>
              <a:rPr lang="en-US" spc="-90"/>
              <a:t>ACIC</a:t>
            </a:r>
            <a:r>
              <a:rPr lang="en-US" spc="-110"/>
              <a:t> </a:t>
            </a:r>
            <a:r>
              <a:rPr lang="en-US" spc="-140"/>
              <a:t>KL</a:t>
            </a:r>
            <a:r>
              <a:rPr lang="en-US" spc="-90"/>
              <a:t> </a:t>
            </a:r>
            <a:r>
              <a:rPr lang="en-US" spc="-85"/>
              <a:t>Startups</a:t>
            </a:r>
            <a:r>
              <a:rPr lang="en-US" spc="-105"/>
              <a:t> </a:t>
            </a:r>
            <a:r>
              <a:rPr lang="en-US" spc="-50"/>
              <a:t>Foundation</a:t>
            </a:r>
            <a:endParaRPr lang="en-US" spc="-5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3063184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pPr marL="12700">
              <a:lnSpc>
                <a:spcPts val="1810"/>
              </a:lnSpc>
            </a:pPr>
            <a:r>
              <a:rPr lang="en-US" spc="-80"/>
              <a:t>Ideathon’24</a:t>
            </a:r>
            <a:r>
              <a:rPr lang="en-US" spc="-100"/>
              <a:t> </a:t>
            </a:r>
            <a:r>
              <a:rPr lang="en-US" spc="-75"/>
              <a:t>E6</a:t>
            </a:r>
            <a:r>
              <a:rPr lang="en-US" spc="-114"/>
              <a:t> </a:t>
            </a:r>
            <a:r>
              <a:rPr lang="en-US" spc="-130"/>
              <a:t>|</a:t>
            </a:r>
            <a:r>
              <a:rPr lang="en-US" spc="-110"/>
              <a:t> </a:t>
            </a:r>
            <a:r>
              <a:rPr lang="en-US" spc="-90"/>
              <a:t>ACIC</a:t>
            </a:r>
            <a:r>
              <a:rPr lang="en-US" spc="-110"/>
              <a:t> </a:t>
            </a:r>
            <a:r>
              <a:rPr lang="en-US" spc="-140"/>
              <a:t>KL</a:t>
            </a:r>
            <a:r>
              <a:rPr lang="en-US" spc="-90"/>
              <a:t> </a:t>
            </a:r>
            <a:r>
              <a:rPr lang="en-US" spc="-85"/>
              <a:t>Startups</a:t>
            </a:r>
            <a:r>
              <a:rPr lang="en-US" spc="-105"/>
              <a:t> </a:t>
            </a:r>
            <a:r>
              <a:rPr lang="en-US" spc="-50"/>
              <a:t>Foundation</a:t>
            </a:r>
            <a:endParaRPr lang="en-US" spc="-5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186335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marL="12700">
              <a:lnSpc>
                <a:spcPts val="1810"/>
              </a:lnSpc>
            </a:pPr>
            <a:r>
              <a:rPr lang="en-US" spc="-80"/>
              <a:t>Ideathon’24</a:t>
            </a:r>
            <a:r>
              <a:rPr lang="en-US" spc="-100"/>
              <a:t> </a:t>
            </a:r>
            <a:r>
              <a:rPr lang="en-US" spc="-75"/>
              <a:t>E6</a:t>
            </a:r>
            <a:r>
              <a:rPr lang="en-US" spc="-114"/>
              <a:t> </a:t>
            </a:r>
            <a:r>
              <a:rPr lang="en-US" spc="-130"/>
              <a:t>|</a:t>
            </a:r>
            <a:r>
              <a:rPr lang="en-US" spc="-110"/>
              <a:t> </a:t>
            </a:r>
            <a:r>
              <a:rPr lang="en-US" spc="-90"/>
              <a:t>ACIC</a:t>
            </a:r>
            <a:r>
              <a:rPr lang="en-US" spc="-110"/>
              <a:t> </a:t>
            </a:r>
            <a:r>
              <a:rPr lang="en-US" spc="-140"/>
              <a:t>KL</a:t>
            </a:r>
            <a:r>
              <a:rPr lang="en-US" spc="-90"/>
              <a:t> </a:t>
            </a:r>
            <a:r>
              <a:rPr lang="en-US" spc="-85"/>
              <a:t>Startups</a:t>
            </a:r>
            <a:r>
              <a:rPr lang="en-US" spc="-105"/>
              <a:t> </a:t>
            </a:r>
            <a:r>
              <a:rPr lang="en-US" spc="-50"/>
              <a:t>Foundation</a:t>
            </a:r>
            <a:endParaRPr lang="en-US" spc="-5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6901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marL="12700">
              <a:lnSpc>
                <a:spcPts val="1810"/>
              </a:lnSpc>
            </a:pPr>
            <a:r>
              <a:rPr lang="en-US" spc="-80"/>
              <a:t>Ideathon’24</a:t>
            </a:r>
            <a:r>
              <a:rPr lang="en-US" spc="-100"/>
              <a:t> </a:t>
            </a:r>
            <a:r>
              <a:rPr lang="en-US" spc="-75"/>
              <a:t>E6</a:t>
            </a:r>
            <a:r>
              <a:rPr lang="en-US" spc="-114"/>
              <a:t> </a:t>
            </a:r>
            <a:r>
              <a:rPr lang="en-US" spc="-130"/>
              <a:t>|</a:t>
            </a:r>
            <a:r>
              <a:rPr lang="en-US" spc="-110"/>
              <a:t> </a:t>
            </a:r>
            <a:r>
              <a:rPr lang="en-US" spc="-90"/>
              <a:t>ACIC</a:t>
            </a:r>
            <a:r>
              <a:rPr lang="en-US" spc="-110"/>
              <a:t> </a:t>
            </a:r>
            <a:r>
              <a:rPr lang="en-US" spc="-140"/>
              <a:t>KL</a:t>
            </a:r>
            <a:r>
              <a:rPr lang="en-US" spc="-90"/>
              <a:t> </a:t>
            </a:r>
            <a:r>
              <a:rPr lang="en-US" spc="-85"/>
              <a:t>Startups</a:t>
            </a:r>
            <a:r>
              <a:rPr lang="en-US" spc="-105"/>
              <a:t> </a:t>
            </a:r>
            <a:r>
              <a:rPr lang="en-US" spc="-50"/>
              <a:t>Foundation</a:t>
            </a:r>
            <a:endParaRPr lang="en-US" spc="-5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48355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12700">
              <a:lnSpc>
                <a:spcPts val="1810"/>
              </a:lnSpc>
            </a:pPr>
            <a:r>
              <a:rPr lang="en-US" spc="-80"/>
              <a:t>Ideathon’24</a:t>
            </a:r>
            <a:r>
              <a:rPr lang="en-US" spc="-100"/>
              <a:t> </a:t>
            </a:r>
            <a:r>
              <a:rPr lang="en-US" spc="-75"/>
              <a:t>E6</a:t>
            </a:r>
            <a:r>
              <a:rPr lang="en-US" spc="-114"/>
              <a:t> </a:t>
            </a:r>
            <a:r>
              <a:rPr lang="en-US" spc="-130"/>
              <a:t>|</a:t>
            </a:r>
            <a:r>
              <a:rPr lang="en-US" spc="-110"/>
              <a:t> </a:t>
            </a:r>
            <a:r>
              <a:rPr lang="en-US" spc="-90"/>
              <a:t>ACIC</a:t>
            </a:r>
            <a:r>
              <a:rPr lang="en-US" spc="-110"/>
              <a:t> </a:t>
            </a:r>
            <a:r>
              <a:rPr lang="en-US" spc="-140"/>
              <a:t>KL</a:t>
            </a:r>
            <a:r>
              <a:rPr lang="en-US" spc="-90"/>
              <a:t> </a:t>
            </a:r>
            <a:r>
              <a:rPr lang="en-US" spc="-85"/>
              <a:t>Startups</a:t>
            </a:r>
            <a:r>
              <a:rPr lang="en-US" spc="-105"/>
              <a:t> </a:t>
            </a:r>
            <a:r>
              <a:rPr lang="en-US" spc="-50"/>
              <a:t>Foundation</a:t>
            </a:r>
            <a:endParaRPr lang="en-US" spc="-5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87958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marL="12700">
              <a:lnSpc>
                <a:spcPts val="1810"/>
              </a:lnSpc>
            </a:pPr>
            <a:r>
              <a:rPr lang="en-US" spc="-80"/>
              <a:t>Ideathon’24</a:t>
            </a:r>
            <a:r>
              <a:rPr lang="en-US" spc="-100"/>
              <a:t> </a:t>
            </a:r>
            <a:r>
              <a:rPr lang="en-US" spc="-75"/>
              <a:t>E6</a:t>
            </a:r>
            <a:r>
              <a:rPr lang="en-US" spc="-114"/>
              <a:t> </a:t>
            </a:r>
            <a:r>
              <a:rPr lang="en-US" spc="-130"/>
              <a:t>|</a:t>
            </a:r>
            <a:r>
              <a:rPr lang="en-US" spc="-110"/>
              <a:t> </a:t>
            </a:r>
            <a:r>
              <a:rPr lang="en-US" spc="-90"/>
              <a:t>ACIC</a:t>
            </a:r>
            <a:r>
              <a:rPr lang="en-US" spc="-110"/>
              <a:t> </a:t>
            </a:r>
            <a:r>
              <a:rPr lang="en-US" spc="-140"/>
              <a:t>KL</a:t>
            </a:r>
            <a:r>
              <a:rPr lang="en-US" spc="-90"/>
              <a:t> </a:t>
            </a:r>
            <a:r>
              <a:rPr lang="en-US" spc="-85"/>
              <a:t>Startups</a:t>
            </a:r>
            <a:r>
              <a:rPr lang="en-US" spc="-105"/>
              <a:t> </a:t>
            </a:r>
            <a:r>
              <a:rPr lang="en-US" spc="-50"/>
              <a:t>Foundation</a:t>
            </a:r>
            <a:endParaRPr lang="en-US" spc="-5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6411878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marL="12700">
              <a:lnSpc>
                <a:spcPts val="1810"/>
              </a:lnSpc>
            </a:pPr>
            <a:r>
              <a:rPr lang="en-US" spc="-80"/>
              <a:t>Ideathon’24</a:t>
            </a:r>
            <a:r>
              <a:rPr lang="en-US" spc="-100"/>
              <a:t> </a:t>
            </a:r>
            <a:r>
              <a:rPr lang="en-US" spc="-75"/>
              <a:t>E6</a:t>
            </a:r>
            <a:r>
              <a:rPr lang="en-US" spc="-114"/>
              <a:t> </a:t>
            </a:r>
            <a:r>
              <a:rPr lang="en-US" spc="-130"/>
              <a:t>|</a:t>
            </a:r>
            <a:r>
              <a:rPr lang="en-US" spc="-110"/>
              <a:t> </a:t>
            </a:r>
            <a:r>
              <a:rPr lang="en-US" spc="-90"/>
              <a:t>ACIC</a:t>
            </a:r>
            <a:r>
              <a:rPr lang="en-US" spc="-110"/>
              <a:t> </a:t>
            </a:r>
            <a:r>
              <a:rPr lang="en-US" spc="-140"/>
              <a:t>KL</a:t>
            </a:r>
            <a:r>
              <a:rPr lang="en-US" spc="-90"/>
              <a:t> </a:t>
            </a:r>
            <a:r>
              <a:rPr lang="en-US" spc="-85"/>
              <a:t>Startups</a:t>
            </a:r>
            <a:r>
              <a:rPr lang="en-US" spc="-105"/>
              <a:t> </a:t>
            </a:r>
            <a:r>
              <a:rPr lang="en-US" spc="-50"/>
              <a:t>Foundation</a:t>
            </a:r>
            <a:endParaRPr lang="en-US" spc="-5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440738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marL="12700">
              <a:lnSpc>
                <a:spcPts val="1810"/>
              </a:lnSpc>
            </a:pPr>
            <a:r>
              <a:rPr lang="en-US" spc="-80"/>
              <a:t>Ideathon’24</a:t>
            </a:r>
            <a:r>
              <a:rPr lang="en-US" spc="-100"/>
              <a:t> </a:t>
            </a:r>
            <a:r>
              <a:rPr lang="en-US" spc="-75"/>
              <a:t>E6</a:t>
            </a:r>
            <a:r>
              <a:rPr lang="en-US" spc="-114"/>
              <a:t> </a:t>
            </a:r>
            <a:r>
              <a:rPr lang="en-US" spc="-130"/>
              <a:t>|</a:t>
            </a:r>
            <a:r>
              <a:rPr lang="en-US" spc="-110"/>
              <a:t> </a:t>
            </a:r>
            <a:r>
              <a:rPr lang="en-US" spc="-90"/>
              <a:t>ACIC</a:t>
            </a:r>
            <a:r>
              <a:rPr lang="en-US" spc="-110"/>
              <a:t> </a:t>
            </a:r>
            <a:r>
              <a:rPr lang="en-US" spc="-140"/>
              <a:t>KL</a:t>
            </a:r>
            <a:r>
              <a:rPr lang="en-US" spc="-90"/>
              <a:t> </a:t>
            </a:r>
            <a:r>
              <a:rPr lang="en-US" spc="-85"/>
              <a:t>Startups</a:t>
            </a:r>
            <a:r>
              <a:rPr lang="en-US" spc="-105"/>
              <a:t> </a:t>
            </a:r>
            <a:r>
              <a:rPr lang="en-US" spc="-50"/>
              <a:t>Foundation</a:t>
            </a:r>
            <a:endParaRPr lang="en-US" spc="-5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732033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marL="12700">
              <a:lnSpc>
                <a:spcPts val="1810"/>
              </a:lnSpc>
            </a:pPr>
            <a:r>
              <a:rPr lang="en-US" spc="-80"/>
              <a:t>Ideathon’24</a:t>
            </a:r>
            <a:r>
              <a:rPr lang="en-US" spc="-100"/>
              <a:t> </a:t>
            </a:r>
            <a:r>
              <a:rPr lang="en-US" spc="-75"/>
              <a:t>E6</a:t>
            </a:r>
            <a:r>
              <a:rPr lang="en-US" spc="-114"/>
              <a:t> </a:t>
            </a:r>
            <a:r>
              <a:rPr lang="en-US" spc="-130"/>
              <a:t>|</a:t>
            </a:r>
            <a:r>
              <a:rPr lang="en-US" spc="-110"/>
              <a:t> </a:t>
            </a:r>
            <a:r>
              <a:rPr lang="en-US" spc="-90"/>
              <a:t>ACIC</a:t>
            </a:r>
            <a:r>
              <a:rPr lang="en-US" spc="-110"/>
              <a:t> </a:t>
            </a:r>
            <a:r>
              <a:rPr lang="en-US" spc="-140"/>
              <a:t>KL</a:t>
            </a:r>
            <a:r>
              <a:rPr lang="en-US" spc="-90"/>
              <a:t> </a:t>
            </a:r>
            <a:r>
              <a:rPr lang="en-US" spc="-85"/>
              <a:t>Startups</a:t>
            </a:r>
            <a:r>
              <a:rPr lang="en-US" spc="-105"/>
              <a:t> </a:t>
            </a:r>
            <a:r>
              <a:rPr lang="en-US" spc="-50"/>
              <a:t>Foundation</a:t>
            </a:r>
            <a:endParaRPr lang="en-US" spc="-50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9528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810"/>
              </a:lnSpc>
            </a:pPr>
            <a:r>
              <a:rPr lang="en-US" spc="-80"/>
              <a:t>Ideathon’24</a:t>
            </a:r>
            <a:r>
              <a:rPr lang="en-US" spc="-100"/>
              <a:t> </a:t>
            </a:r>
            <a:r>
              <a:rPr lang="en-US" spc="-75"/>
              <a:t>E6</a:t>
            </a:r>
            <a:r>
              <a:rPr lang="en-US" spc="-114"/>
              <a:t> </a:t>
            </a:r>
            <a:r>
              <a:rPr lang="en-US" spc="-130"/>
              <a:t>|</a:t>
            </a:r>
            <a:r>
              <a:rPr lang="en-US" spc="-110"/>
              <a:t> </a:t>
            </a:r>
            <a:r>
              <a:rPr lang="en-US" spc="-90"/>
              <a:t>ACIC</a:t>
            </a:r>
            <a:r>
              <a:rPr lang="en-US" spc="-110"/>
              <a:t> </a:t>
            </a:r>
            <a:r>
              <a:rPr lang="en-US" spc="-140"/>
              <a:t>KL</a:t>
            </a:r>
            <a:r>
              <a:rPr lang="en-US" spc="-90"/>
              <a:t> </a:t>
            </a:r>
            <a:r>
              <a:rPr lang="en-US" spc="-85"/>
              <a:t>Startups</a:t>
            </a:r>
            <a:r>
              <a:rPr lang="en-US" spc="-105"/>
              <a:t> </a:t>
            </a:r>
            <a:r>
              <a:rPr lang="en-US" spc="-50"/>
              <a:t>Foundation</a:t>
            </a:r>
            <a:endParaRPr lang="en-US" spc="-5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5629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810"/>
              </a:lnSpc>
            </a:pPr>
            <a:r>
              <a:rPr lang="en-US" spc="-80"/>
              <a:t>Ideathon’24</a:t>
            </a:r>
            <a:r>
              <a:rPr lang="en-US" spc="-100"/>
              <a:t> </a:t>
            </a:r>
            <a:r>
              <a:rPr lang="en-US" spc="-75"/>
              <a:t>E6</a:t>
            </a:r>
            <a:r>
              <a:rPr lang="en-US" spc="-114"/>
              <a:t> </a:t>
            </a:r>
            <a:r>
              <a:rPr lang="en-US" spc="-130"/>
              <a:t>|</a:t>
            </a:r>
            <a:r>
              <a:rPr lang="en-US" spc="-110"/>
              <a:t> </a:t>
            </a:r>
            <a:r>
              <a:rPr lang="en-US" spc="-90"/>
              <a:t>ACIC</a:t>
            </a:r>
            <a:r>
              <a:rPr lang="en-US" spc="-110"/>
              <a:t> </a:t>
            </a:r>
            <a:r>
              <a:rPr lang="en-US" spc="-140"/>
              <a:t>KL</a:t>
            </a:r>
            <a:r>
              <a:rPr lang="en-US" spc="-90"/>
              <a:t> </a:t>
            </a:r>
            <a:r>
              <a:rPr lang="en-US" spc="-85"/>
              <a:t>Startups</a:t>
            </a:r>
            <a:r>
              <a:rPr lang="en-US" spc="-105"/>
              <a:t> </a:t>
            </a:r>
            <a:r>
              <a:rPr lang="en-US" spc="-50"/>
              <a:t>Foundation</a:t>
            </a:r>
            <a:endParaRPr lang="en-US" spc="-5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56335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990590"/>
            <a:ext cx="10363200" cy="519373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07749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68" indent="0" algn="ctr">
              <a:buNone/>
              <a:defRPr sz="1125"/>
            </a:lvl2pPr>
            <a:lvl3pPr marL="514336" indent="0" algn="ctr">
              <a:buNone/>
              <a:defRPr sz="1012"/>
            </a:lvl3pPr>
            <a:lvl4pPr marL="771504" indent="0" algn="ctr">
              <a:buNone/>
              <a:defRPr sz="900"/>
            </a:lvl4pPr>
            <a:lvl5pPr marL="1028673" indent="0" algn="ctr">
              <a:buNone/>
              <a:defRPr sz="900"/>
            </a:lvl5pPr>
            <a:lvl6pPr marL="1285841" indent="0" algn="ctr">
              <a:buNone/>
              <a:defRPr sz="900"/>
            </a:lvl6pPr>
            <a:lvl7pPr marL="1543009" indent="0" algn="ctr">
              <a:buNone/>
              <a:defRPr sz="900"/>
            </a:lvl7pPr>
            <a:lvl8pPr marL="1800177" indent="0" algn="ctr">
              <a:buNone/>
              <a:defRPr sz="900"/>
            </a:lvl8pPr>
            <a:lvl9pPr marL="2057345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77940"/>
            <a:ext cx="2804160" cy="276999"/>
          </a:xfrm>
        </p:spPr>
        <p:txBody>
          <a:bodyPr/>
          <a:lstStyle/>
          <a:p>
            <a:fld id="{00FDDA57-53CB-4047-96A9-7BC247C68478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57065" y="6432753"/>
            <a:ext cx="4277995" cy="276999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2CF9A87E-2015-4F0E-ADB7-E5B47F5945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192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32.xml"/><Relationship Id="rId3" Type="http://schemas.openxmlformats.org/officeDocument/2006/relationships/slideLayout" Target="../slideLayouts/slideLayout9.xml"/><Relationship Id="rId21" Type="http://schemas.openxmlformats.org/officeDocument/2006/relationships/slideLayout" Target="../slideLayouts/slideLayout27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31.xml"/><Relationship Id="rId2" Type="http://schemas.openxmlformats.org/officeDocument/2006/relationships/slideLayout" Target="../slideLayouts/slideLayout8.xml"/><Relationship Id="rId16" Type="http://schemas.openxmlformats.org/officeDocument/2006/relationships/slideLayout" Target="../slideLayouts/slideLayout22.xml"/><Relationship Id="rId20" Type="http://schemas.openxmlformats.org/officeDocument/2006/relationships/slideLayout" Target="../slideLayouts/slideLayout26.xml"/><Relationship Id="rId29" Type="http://schemas.openxmlformats.org/officeDocument/2006/relationships/theme" Target="../theme/theme2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24" Type="http://schemas.openxmlformats.org/officeDocument/2006/relationships/slideLayout" Target="../slideLayouts/slideLayout30.xml"/><Relationship Id="rId5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09676"/>
            <a:ext cx="9410700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07918"/>
            <a:ext cx="10360660" cy="3607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957065" y="6432753"/>
            <a:ext cx="4277995" cy="25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ts val="1810"/>
              </a:lnSpc>
            </a:pPr>
            <a:r>
              <a:rPr spc="-80" dirty="0"/>
              <a:t>Ideathon’24</a:t>
            </a:r>
            <a:r>
              <a:rPr spc="-100" dirty="0"/>
              <a:t> </a:t>
            </a:r>
            <a:r>
              <a:rPr spc="-75" dirty="0"/>
              <a:t>E6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spc="-90" dirty="0"/>
              <a:t>ACIC</a:t>
            </a:r>
            <a:r>
              <a:rPr spc="-110" dirty="0"/>
              <a:t> </a:t>
            </a:r>
            <a:r>
              <a:rPr spc="-140" dirty="0"/>
              <a:t>KL</a:t>
            </a:r>
            <a:r>
              <a:rPr spc="-90" dirty="0"/>
              <a:t> </a:t>
            </a:r>
            <a:r>
              <a:rPr spc="-85" dirty="0"/>
              <a:t>Startups</a:t>
            </a:r>
            <a:r>
              <a:rPr spc="-105" dirty="0"/>
              <a:t> </a:t>
            </a:r>
            <a:r>
              <a:rPr spc="-50" dirty="0"/>
              <a:t>Foundation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pPr marL="12700">
              <a:lnSpc>
                <a:spcPts val="1810"/>
              </a:lnSpc>
            </a:pPr>
            <a:r>
              <a:rPr lang="en-US" spc="-80"/>
              <a:t>Ideathon’24</a:t>
            </a:r>
            <a:r>
              <a:rPr lang="en-US" spc="-100"/>
              <a:t> </a:t>
            </a:r>
            <a:r>
              <a:rPr lang="en-US" spc="-75"/>
              <a:t>E6</a:t>
            </a:r>
            <a:r>
              <a:rPr lang="en-US" spc="-114"/>
              <a:t> </a:t>
            </a:r>
            <a:r>
              <a:rPr lang="en-US" spc="-130"/>
              <a:t>|</a:t>
            </a:r>
            <a:r>
              <a:rPr lang="en-US" spc="-110"/>
              <a:t> </a:t>
            </a:r>
            <a:r>
              <a:rPr lang="en-US" spc="-90"/>
              <a:t>ACIC</a:t>
            </a:r>
            <a:r>
              <a:rPr lang="en-US" spc="-110"/>
              <a:t> </a:t>
            </a:r>
            <a:r>
              <a:rPr lang="en-US" spc="-140"/>
              <a:t>KL</a:t>
            </a:r>
            <a:r>
              <a:rPr lang="en-US" spc="-90"/>
              <a:t> </a:t>
            </a:r>
            <a:r>
              <a:rPr lang="en-US" spc="-85"/>
              <a:t>Startups</a:t>
            </a:r>
            <a:r>
              <a:rPr lang="en-US" spc="-105"/>
              <a:t> </a:t>
            </a:r>
            <a:r>
              <a:rPr lang="en-US" spc="-50"/>
              <a:t>Foundation</a:t>
            </a:r>
            <a:endParaRPr lang="en-US" spc="-5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75469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85" r:id="rId18"/>
    <p:sldLayoutId id="2147483686" r:id="rId19"/>
    <p:sldLayoutId id="2147483687" r:id="rId20"/>
    <p:sldLayoutId id="2147483688" r:id="rId21"/>
    <p:sldLayoutId id="2147483689" r:id="rId22"/>
    <p:sldLayoutId id="2147483690" r:id="rId23"/>
    <p:sldLayoutId id="2147483691" r:id="rId24"/>
    <p:sldLayoutId id="2147483692" r:id="rId25"/>
    <p:sldLayoutId id="2147483693" r:id="rId26"/>
    <p:sldLayoutId id="2147483694" r:id="rId27"/>
    <p:sldLayoutId id="2147483695" r:id="rId28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26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file:///C:\Users\Divya\Downloads\attendance-system%20(1).html" TargetMode="Externa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8BC4E4F-9A7D-E85B-5CC2-526C9B465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11" y="-5862"/>
            <a:ext cx="5923089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85EB0C5-7A99-34FC-BF23-3E636C996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746" y="-5862"/>
            <a:ext cx="57853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612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9966960" y="4846320"/>
            <a:ext cx="3291840" cy="3291840"/>
          </a:xfrm>
          <a:prstGeom prst="ellipse">
            <a:avLst/>
          </a:prstGeom>
          <a:solidFill>
            <a:srgbClr val="E8EEFB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0" y="-640080"/>
            <a:ext cx="2194560" cy="2194560"/>
          </a:xfrm>
          <a:prstGeom prst="ellipse">
            <a:avLst/>
          </a:prstGeom>
          <a:solidFill>
            <a:srgbClr val="FFF3D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822960" y="-822960"/>
            <a:ext cx="2743200" cy="2743200"/>
          </a:xfrm>
          <a:prstGeom prst="ellipse">
            <a:avLst/>
          </a:prstGeom>
          <a:solidFill>
            <a:srgbClr val="FDECEC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0160" y="685800"/>
            <a:ext cx="9628632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3400" b="1" spc="-10" dirty="0">
                <a:latin typeface="Carlito"/>
                <a:cs typeface="Carlito"/>
              </a:rPr>
              <a:t>Automated Student Attendance Monitoring &amp; Analytics System for Colleges</a:t>
            </a:r>
            <a:endParaRPr b="1" spc="-10" dirty="0">
              <a:latin typeface="Carlito"/>
              <a:cs typeface="Carli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38200" y="2468880"/>
            <a:ext cx="10668000" cy="239103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lang="en-US" sz="3200" spc="-110" dirty="0">
                <a:solidFill>
                  <a:srgbClr val="00B0F0"/>
                </a:solidFill>
                <a:latin typeface="Trebuchet MS"/>
                <a:cs typeface="Trebuchet MS"/>
              </a:rPr>
              <a:t>Design Thinking for innovation &amp; Entrepreneurship (DTIE)</a:t>
            </a:r>
          </a:p>
          <a:p>
            <a:pPr algn="ctr">
              <a:lnSpc>
                <a:spcPct val="100000"/>
              </a:lnSpc>
              <a:spcBef>
                <a:spcPts val="105"/>
              </a:spcBef>
            </a:pPr>
            <a:endParaRPr lang="en-US" sz="3200" spc="-110" dirty="0">
              <a:solidFill>
                <a:srgbClr val="C00000"/>
              </a:solidFill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lang="en-US" sz="3200" spc="-110" dirty="0">
                <a:solidFill>
                  <a:srgbClr val="C00000"/>
                </a:solidFill>
                <a:latin typeface="Trebuchet MS"/>
                <a:cs typeface="Trebuchet MS"/>
              </a:rPr>
              <a:t>Section : 9</a:t>
            </a:r>
          </a:p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lang="en-US" sz="3200" spc="-11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endParaRPr sz="3200" dirty="0">
              <a:solidFill>
                <a:srgbClr val="C00000"/>
              </a:solidFill>
              <a:latin typeface="Trebuchet MS"/>
              <a:cs typeface="Trebuchet MS"/>
            </a:endParaRPr>
          </a:p>
          <a:p>
            <a:pPr marL="635" algn="ctr">
              <a:lnSpc>
                <a:spcPct val="100000"/>
              </a:lnSpc>
              <a:spcBef>
                <a:spcPts val="45"/>
              </a:spcBef>
            </a:pPr>
            <a:r>
              <a:rPr lang="en-US" sz="2400" spc="-100" dirty="0">
                <a:solidFill>
                  <a:srgbClr val="00B050"/>
                </a:solidFill>
                <a:latin typeface="Trebuchet MS"/>
                <a:cs typeface="Trebuchet MS"/>
              </a:rPr>
              <a:t>Project Batch-A</a:t>
            </a:r>
            <a:endParaRPr sz="2400" dirty="0">
              <a:solidFill>
                <a:srgbClr val="00B050"/>
              </a:solidFill>
              <a:latin typeface="Trebuchet MS"/>
              <a:cs typeface="Trebuchet MS"/>
            </a:endParaRPr>
          </a:p>
        </p:txBody>
      </p:sp>
      <p:sp>
        <p:nvSpPr>
          <p:cNvPr id="7" name="Oval 6"/>
          <p:cNvSpPr/>
          <p:nvPr/>
        </p:nvSpPr>
        <p:spPr>
          <a:xfrm>
            <a:off x="5166360" y="5806440"/>
            <a:ext cx="685800" cy="6858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endParaRPr/>
          </a:p>
        </p:txBody>
      </p:sp>
      <p:pic>
        <p:nvPicPr>
          <p:cNvPr id="8" name="Picture 7" descr="qr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7810" y="5977890"/>
            <a:ext cx="342900" cy="34290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6080760" y="5806440"/>
            <a:ext cx="685800" cy="685800"/>
          </a:xfrm>
          <a:prstGeom prst="ellipse">
            <a:avLst/>
          </a:prstGeom>
          <a:solidFill>
            <a:srgbClr val="1F4E9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endParaRPr/>
          </a:p>
        </p:txBody>
      </p:sp>
      <p:pic>
        <p:nvPicPr>
          <p:cNvPr id="10" name="Picture 9" descr="mob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210" y="5977890"/>
            <a:ext cx="342900" cy="34290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6995160" y="5806440"/>
            <a:ext cx="685800" cy="685800"/>
          </a:xfrm>
          <a:prstGeom prst="ellipse">
            <a:avLst/>
          </a:prstGeom>
          <a:solidFill>
            <a:srgbClr val="0F8F7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endParaRPr/>
          </a:p>
        </p:txBody>
      </p:sp>
      <p:pic>
        <p:nvPicPr>
          <p:cNvPr id="12" name="Picture 11" descr="chart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6610" y="5977890"/>
            <a:ext cx="3429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1520" y="365760"/>
            <a:ext cx="10725912" cy="6949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60" dirty="0"/>
              <a:t>Team Members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2542032" cy="2377440"/>
          </a:xfrm>
          <a:prstGeom prst="roundRect">
            <a:avLst>
              <a:gd name="adj" fmla="val 5000"/>
            </a:avLst>
          </a:prstGeom>
          <a:solidFill>
            <a:srgbClr val="FDECEC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568195" y="1783080"/>
            <a:ext cx="868680" cy="8686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PD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2542032" cy="457200"/>
          </a:xfrm>
          <a:prstGeom prst="rect">
            <a:avLst/>
          </a:prstGeom>
          <a:noFill/>
        </p:spPr>
        <p:txBody>
          <a:bodyPr wrap="square" tIns="73152" bIns="73152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sz="2150" b="1" i="0">
                <a:solidFill>
                  <a:srgbClr val="262626"/>
                </a:solidFill>
                <a:latin typeface="Calibri"/>
              </a:rPr>
              <a:t>P. Sri Divya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2542032" cy="365760"/>
          </a:xfrm>
          <a:prstGeom prst="rect">
            <a:avLst/>
          </a:prstGeom>
          <a:noFill/>
        </p:spPr>
        <p:txBody>
          <a:bodyPr wrap="square" tIns="73152" bIns="73152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sz="1800" b="0" i="0">
                <a:solidFill>
                  <a:srgbClr val="595959"/>
                </a:solidFill>
                <a:latin typeface="Calibri"/>
              </a:rPr>
              <a:t>2620090130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80" y="1554480"/>
            <a:ext cx="2542032" cy="2377440"/>
          </a:xfrm>
          <a:prstGeom prst="roundRect">
            <a:avLst>
              <a:gd name="adj" fmla="val 5000"/>
            </a:avLst>
          </a:prstGeom>
          <a:solidFill>
            <a:srgbClr val="E8EEFB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296156" y="1783080"/>
            <a:ext cx="868680" cy="868680"/>
          </a:xfrm>
          <a:prstGeom prst="ellipse">
            <a:avLst/>
          </a:prstGeom>
          <a:solidFill>
            <a:srgbClr val="1F4E9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9480" y="2743200"/>
            <a:ext cx="2542032" cy="457200"/>
          </a:xfrm>
          <a:prstGeom prst="rect">
            <a:avLst/>
          </a:prstGeom>
          <a:noFill/>
        </p:spPr>
        <p:txBody>
          <a:bodyPr wrap="square" tIns="73152" bIns="73152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sz="2150" b="1" i="0">
                <a:solidFill>
                  <a:srgbClr val="262626"/>
                </a:solidFill>
                <a:latin typeface="Calibri"/>
              </a:rPr>
              <a:t>D. Bhavya Sree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80" y="3200400"/>
            <a:ext cx="2542032" cy="365760"/>
          </a:xfrm>
          <a:prstGeom prst="rect">
            <a:avLst/>
          </a:prstGeom>
          <a:noFill/>
        </p:spPr>
        <p:txBody>
          <a:bodyPr wrap="square" tIns="73152" bIns="73152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sz="1800" b="0" i="0">
                <a:solidFill>
                  <a:srgbClr val="595959"/>
                </a:solidFill>
                <a:latin typeface="Calibri"/>
              </a:rPr>
              <a:t>2620080023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7440" y="1554480"/>
            <a:ext cx="2542032" cy="2377440"/>
          </a:xfrm>
          <a:prstGeom prst="roundRect">
            <a:avLst>
              <a:gd name="adj" fmla="val 5000"/>
            </a:avLst>
          </a:prstGeom>
          <a:solidFill>
            <a:srgbClr val="E6F5F1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024116" y="1783080"/>
            <a:ext cx="868680" cy="868680"/>
          </a:xfrm>
          <a:prstGeom prst="ellipse">
            <a:avLst/>
          </a:prstGeom>
          <a:solidFill>
            <a:srgbClr val="0F8F7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440" y="2743200"/>
            <a:ext cx="2542032" cy="457200"/>
          </a:xfrm>
          <a:prstGeom prst="rect">
            <a:avLst/>
          </a:prstGeom>
          <a:noFill/>
        </p:spPr>
        <p:txBody>
          <a:bodyPr wrap="square" tIns="73152" bIns="73152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sz="2150" b="1" i="0">
                <a:solidFill>
                  <a:srgbClr val="262626"/>
                </a:solidFill>
                <a:latin typeface="Calibri"/>
              </a:rPr>
              <a:t>C. Yasaswini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7440" y="3200400"/>
            <a:ext cx="2542032" cy="365760"/>
          </a:xfrm>
          <a:prstGeom prst="rect">
            <a:avLst/>
          </a:prstGeom>
          <a:noFill/>
        </p:spPr>
        <p:txBody>
          <a:bodyPr wrap="square" tIns="73152" bIns="73152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sz="1800" b="0" i="0">
                <a:solidFill>
                  <a:srgbClr val="595959"/>
                </a:solidFill>
                <a:latin typeface="Calibri"/>
              </a:rPr>
              <a:t>2620030206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1554480"/>
            <a:ext cx="2542032" cy="2377440"/>
          </a:xfrm>
          <a:prstGeom prst="roundRect">
            <a:avLst>
              <a:gd name="adj" fmla="val 5000"/>
            </a:avLst>
          </a:prstGeom>
          <a:solidFill>
            <a:srgbClr val="FFF3DC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752076" y="1783080"/>
            <a:ext cx="868680" cy="868680"/>
          </a:xfrm>
          <a:prstGeom prst="ellipse">
            <a:avLst/>
          </a:prstGeom>
          <a:solidFill>
            <a:srgbClr val="C777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libri"/>
              </a:rPr>
              <a:t>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2743200"/>
            <a:ext cx="2542032" cy="457200"/>
          </a:xfrm>
          <a:prstGeom prst="rect">
            <a:avLst/>
          </a:prstGeom>
          <a:noFill/>
        </p:spPr>
        <p:txBody>
          <a:bodyPr wrap="square" tIns="73152" bIns="73152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sz="2150" b="1" i="0">
                <a:solidFill>
                  <a:srgbClr val="262626"/>
                </a:solidFill>
                <a:latin typeface="Calibri"/>
              </a:rPr>
              <a:t>P. Sneha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3200400"/>
            <a:ext cx="2542032" cy="365760"/>
          </a:xfrm>
          <a:prstGeom prst="rect">
            <a:avLst/>
          </a:prstGeom>
          <a:noFill/>
        </p:spPr>
        <p:txBody>
          <a:bodyPr wrap="square" tIns="73152" bIns="73152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sz="1800" b="0" i="0">
                <a:solidFill>
                  <a:srgbClr val="595959"/>
                </a:solidFill>
                <a:latin typeface="Calibri"/>
              </a:rPr>
              <a:t>2620030603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206240"/>
            <a:ext cx="10725912" cy="1737360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>
            <a:noFill/>
          </a:ln>
        </p:spPr>
        <p:txBody>
          <a:bodyPr wrap="square" lIns="228600" tIns="182880" rIns="228600" bIns="182880" rtlCol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700" b="0" i="0" dirty="0">
                <a:solidFill>
                  <a:srgbClr val="595959"/>
                </a:solidFill>
                <a:latin typeface="Calibri"/>
              </a:rPr>
              <a:t>Under the Guidance of</a:t>
            </a:r>
          </a:p>
          <a:p>
            <a:pPr algn="l">
              <a:spcAft>
                <a:spcPts val="200"/>
              </a:spcAft>
            </a:pPr>
            <a:r>
              <a:rPr sz="2650" b="1" i="0" dirty="0">
                <a:solidFill>
                  <a:srgbClr val="C00000"/>
                </a:solidFill>
                <a:latin typeface="Calibri"/>
              </a:rPr>
              <a:t>Dr. G. Sudhakar</a:t>
            </a:r>
          </a:p>
          <a:p>
            <a:pPr algn="l">
              <a:spcAft>
                <a:spcPts val="800"/>
              </a:spcAft>
            </a:pPr>
            <a:r>
              <a:rPr sz="1800" b="0" i="0" dirty="0">
                <a:solidFill>
                  <a:srgbClr val="262626"/>
                </a:solidFill>
                <a:latin typeface="Calibri"/>
              </a:rPr>
              <a:t>Associate Professor, Department of CSE</a:t>
            </a:r>
          </a:p>
          <a:p>
            <a:pPr algn="l">
              <a:spcAft>
                <a:spcPts val="300"/>
              </a:spcAft>
            </a:pPr>
            <a:r>
              <a:rPr sz="1800" b="1" i="0" dirty="0">
                <a:solidFill>
                  <a:srgbClr val="262626"/>
                </a:solidFill>
                <a:latin typeface="Calibri"/>
              </a:rPr>
              <a:t>Project Batch: </a:t>
            </a:r>
            <a:r>
              <a:rPr sz="1800" b="0" i="0" dirty="0">
                <a:solidFill>
                  <a:srgbClr val="262626"/>
                </a:solidFill>
                <a:latin typeface="Calibri"/>
              </a:rPr>
              <a:t>A</a:t>
            </a:r>
            <a:r>
              <a:rPr sz="1800" b="1" i="0" dirty="0">
                <a:solidFill>
                  <a:srgbClr val="262626"/>
                </a:solidFill>
                <a:latin typeface="Calibri"/>
              </a:rPr>
              <a:t>      Section: </a:t>
            </a:r>
            <a:r>
              <a:rPr lang="en-US" dirty="0">
                <a:solidFill>
                  <a:srgbClr val="262626"/>
                </a:solidFill>
                <a:latin typeface="Calibri"/>
              </a:rPr>
              <a:t>9</a:t>
            </a:r>
            <a:endParaRPr sz="1800" b="0" i="0" dirty="0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1520" y="365760"/>
            <a:ext cx="10725912" cy="6949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0" dirty="0"/>
              <a:t>Vision and Mission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6">
            <a:extLst>
              <a:ext uri="{FF2B5EF4-FFF2-40B4-BE49-F238E27FC236}">
                <a16:creationId xmlns:a16="http://schemas.microsoft.com/office/drawing/2014/main" id="{507D7311-7F05-D1BA-0F8C-EDE064B2C6D5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13" name="Rounded Rectangle 12"/>
          <p:cNvSpPr/>
          <p:nvPr/>
        </p:nvSpPr>
        <p:spPr>
          <a:xfrm>
            <a:off x="731520" y="1463040"/>
            <a:ext cx="4937760" cy="3383280"/>
          </a:xfrm>
          <a:prstGeom prst="roundRect">
            <a:avLst>
              <a:gd name="adj" fmla="val 5000"/>
            </a:avLst>
          </a:prstGeom>
          <a:solidFill>
            <a:srgbClr val="E8EEFB"/>
          </a:solidFill>
          <a:ln>
            <a:noFill/>
          </a:ln>
        </p:spPr>
        <p:txBody>
          <a:bodyPr wrap="square" lIns="228600" tIns="182880" rIns="228600" bIns="182880" rtlCol="0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sz="3000" b="1" i="0">
                <a:solidFill>
                  <a:srgbClr val="1F4E9E"/>
                </a:solidFill>
                <a:latin typeface="Calibri"/>
              </a:rPr>
              <a:t>Our Vision</a:t>
            </a:r>
          </a:p>
          <a:p>
            <a:pPr marL="182880" indent="-182880" algn="l">
              <a:spcAft>
                <a:spcPts val="300"/>
              </a:spcAft>
              <a:buClr>
                <a:srgbClr val="1F4E9E"/>
              </a:buClr>
              <a:buChar char="•"/>
            </a:pPr>
            <a:r>
              <a:rPr sz="2250" b="0" i="0">
                <a:solidFill>
                  <a:srgbClr val="262626"/>
                </a:solidFill>
                <a:latin typeface="Calibri"/>
              </a:rPr>
              <a:t>Simple, accurate and transparent attendance management using modern technology.</a:t>
            </a:r>
          </a:p>
          <a:p>
            <a:pPr marL="182880" indent="-182880" algn="l">
              <a:spcAft>
                <a:spcPts val="300"/>
              </a:spcAft>
              <a:buClr>
                <a:srgbClr val="1F4E9E"/>
              </a:buClr>
              <a:buChar char="•"/>
            </a:pPr>
            <a:r>
              <a:rPr sz="2250" b="0" i="0">
                <a:solidFill>
                  <a:srgbClr val="262626"/>
                </a:solidFill>
                <a:latin typeface="Calibri"/>
              </a:rPr>
              <a:t>Teachers mark attendance easily; students track theirs anytime.</a:t>
            </a:r>
          </a:p>
        </p:txBody>
      </p:sp>
      <p:sp>
        <p:nvSpPr>
          <p:cNvPr id="14" name="Oval 13"/>
          <p:cNvSpPr/>
          <p:nvPr/>
        </p:nvSpPr>
        <p:spPr>
          <a:xfrm>
            <a:off x="4937759" y="1554480"/>
            <a:ext cx="548640" cy="548640"/>
          </a:xfrm>
          <a:prstGeom prst="ellipse">
            <a:avLst/>
          </a:prstGeom>
          <a:solidFill>
            <a:srgbClr val="1F4E9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endParaRPr/>
          </a:p>
        </p:txBody>
      </p:sp>
      <p:pic>
        <p:nvPicPr>
          <p:cNvPr id="15" name="Picture 14" descr="ey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691639"/>
            <a:ext cx="274320" cy="27432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852159" y="1463040"/>
            <a:ext cx="5605272" cy="3383280"/>
          </a:xfrm>
          <a:prstGeom prst="roundRect">
            <a:avLst>
              <a:gd name="adj" fmla="val 5000"/>
            </a:avLst>
          </a:prstGeom>
          <a:solidFill>
            <a:srgbClr val="FDECEC"/>
          </a:solidFill>
          <a:ln>
            <a:noFill/>
          </a:ln>
        </p:spPr>
        <p:txBody>
          <a:bodyPr wrap="square" lIns="228600" tIns="182880" rIns="228600" bIns="182880" rtlCol="0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sz="3000" b="1" i="0">
                <a:solidFill>
                  <a:srgbClr val="C00000"/>
                </a:solidFill>
                <a:latin typeface="Calibri"/>
              </a:rPr>
              <a:t>Our Mission</a:t>
            </a:r>
          </a:p>
          <a:p>
            <a:pPr marL="182880" indent="-182880" algn="l">
              <a:spcAft>
                <a:spcPts val="300"/>
              </a:spcAft>
              <a:buClr>
                <a:srgbClr val="C00000"/>
              </a:buClr>
              <a:buChar char="•"/>
            </a:pPr>
            <a:r>
              <a:rPr sz="2250" b="0" i="0">
                <a:solidFill>
                  <a:srgbClr val="262626"/>
                </a:solidFill>
                <a:latin typeface="Calibri"/>
              </a:rPr>
              <a:t>Save teachers' time</a:t>
            </a:r>
          </a:p>
          <a:p>
            <a:pPr marL="182880" indent="-182880" algn="l">
              <a:spcAft>
                <a:spcPts val="300"/>
              </a:spcAft>
              <a:buClr>
                <a:srgbClr val="C00000"/>
              </a:buClr>
              <a:buChar char="•"/>
            </a:pPr>
            <a:r>
              <a:rPr sz="2250" b="0" i="0">
                <a:solidFill>
                  <a:srgbClr val="262626"/>
                </a:solidFill>
                <a:latin typeface="Calibri"/>
              </a:rPr>
              <a:t>Replace paper registers</a:t>
            </a:r>
          </a:p>
          <a:p>
            <a:pPr marL="182880" indent="-182880" algn="l">
              <a:spcAft>
                <a:spcPts val="300"/>
              </a:spcAft>
              <a:buClr>
                <a:srgbClr val="C00000"/>
              </a:buClr>
              <a:buChar char="•"/>
            </a:pPr>
            <a:r>
              <a:rPr sz="2250" b="0" i="0">
                <a:solidFill>
                  <a:srgbClr val="262626"/>
                </a:solidFill>
                <a:latin typeface="Calibri"/>
              </a:rPr>
              <a:t>Reduce errors and proxy attendance</a:t>
            </a:r>
          </a:p>
          <a:p>
            <a:pPr marL="182880" indent="-182880" algn="l">
              <a:spcAft>
                <a:spcPts val="300"/>
              </a:spcAft>
              <a:buClr>
                <a:srgbClr val="C00000"/>
              </a:buClr>
              <a:buChar char="•"/>
            </a:pPr>
            <a:r>
              <a:rPr sz="2250" b="0" i="0">
                <a:solidFill>
                  <a:srgbClr val="262626"/>
                </a:solidFill>
                <a:latin typeface="Calibri"/>
              </a:rPr>
              <a:t>Alert students about low attendance</a:t>
            </a:r>
          </a:p>
        </p:txBody>
      </p:sp>
      <p:sp>
        <p:nvSpPr>
          <p:cNvPr id="17" name="Oval 16"/>
          <p:cNvSpPr/>
          <p:nvPr/>
        </p:nvSpPr>
        <p:spPr>
          <a:xfrm>
            <a:off x="10588752" y="1554480"/>
            <a:ext cx="548640" cy="5486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endParaRPr/>
          </a:p>
        </p:txBody>
      </p:sp>
      <p:pic>
        <p:nvPicPr>
          <p:cNvPr id="18" name="Picture 17" descr="bulls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912" y="1691639"/>
            <a:ext cx="274320" cy="27432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731520" y="4983480"/>
            <a:ext cx="10725912" cy="1005840"/>
          </a:xfrm>
          <a:prstGeom prst="roundRect">
            <a:avLst>
              <a:gd name="adj" fmla="val 5000"/>
            </a:avLst>
          </a:prstGeom>
          <a:solidFill>
            <a:srgbClr val="C00000"/>
          </a:solidFill>
          <a:ln>
            <a:noFill/>
          </a:ln>
        </p:spPr>
        <p:txBody>
          <a:bodyPr wrap="square" lIns="228600" tIns="182880" rIns="228600" bIns="182880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sz="2250" b="1" i="0">
                <a:solidFill>
                  <a:srgbClr val="FFFFFF"/>
                </a:solidFill>
                <a:latin typeface="Calibri"/>
              </a:rPr>
              <a:t>Our Goal:  </a:t>
            </a:r>
            <a:r>
              <a:rPr sz="2250" b="0" i="0">
                <a:solidFill>
                  <a:srgbClr val="FFFFFF"/>
                </a:solidFill>
                <a:latin typeface="Calibri"/>
              </a:rPr>
              <a:t>A smart attendance system that keeps students, teachers and management informed.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1520" y="365760"/>
            <a:ext cx="10725912" cy="6949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90" dirty="0"/>
              <a:t>Problem Statement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1BFD64D8-5CBA-1604-7781-344782C3E51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US" spc="-80" dirty="0"/>
              <a:t>DTIE   </a:t>
            </a:r>
            <a:r>
              <a:rPr spc="-114" dirty="0"/>
              <a:t> </a:t>
            </a:r>
            <a:r>
              <a:rPr spc="-130" dirty="0"/>
              <a:t>|</a:t>
            </a:r>
            <a:r>
              <a:rPr lang="en-IN" spc="-130" dirty="0"/>
              <a:t>      </a:t>
            </a:r>
            <a:r>
              <a:rPr spc="-110" dirty="0"/>
              <a:t>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447288" cy="1554480"/>
          </a:xfrm>
          <a:prstGeom prst="roundRect">
            <a:avLst>
              <a:gd name="adj" fmla="val 5000"/>
            </a:avLst>
          </a:prstGeom>
          <a:solidFill>
            <a:srgbClr val="FDECEC"/>
          </a:solidFill>
          <a:ln>
            <a:noFill/>
          </a:ln>
        </p:spPr>
        <p:txBody>
          <a:bodyPr wrap="square" lIns="182880" tIns="146304" rIns="182880" bIns="146304" rtlCol="0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sz="2250" b="1" i="0">
                <a:solidFill>
                  <a:srgbClr val="C00000"/>
                </a:solidFill>
                <a:latin typeface="Calibri"/>
              </a:rPr>
              <a:t>1. Time-Consuming</a:t>
            </a:r>
          </a:p>
          <a:p>
            <a:pPr algn="l">
              <a:spcAft>
                <a:spcPts val="300"/>
              </a:spcAft>
            </a:pPr>
            <a:r>
              <a:rPr sz="2100" b="0" i="0">
                <a:solidFill>
                  <a:srgbClr val="262626"/>
                </a:solidFill>
                <a:latin typeface="Calibri"/>
              </a:rPr>
              <a:t>Roll calls waste class time.</a:t>
            </a:r>
          </a:p>
        </p:txBody>
      </p:sp>
      <p:sp>
        <p:nvSpPr>
          <p:cNvPr id="8" name="Oval 7"/>
          <p:cNvSpPr/>
          <p:nvPr/>
        </p:nvSpPr>
        <p:spPr>
          <a:xfrm>
            <a:off x="3584448" y="1527048"/>
            <a:ext cx="411480" cy="4114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endParaRPr/>
          </a:p>
        </p:txBody>
      </p:sp>
      <p:pic>
        <p:nvPicPr>
          <p:cNvPr id="9" name="Picture 8" descr="c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7318" y="1629918"/>
            <a:ext cx="205740" cy="2057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370832" y="1417320"/>
            <a:ext cx="3447288" cy="1554480"/>
          </a:xfrm>
          <a:prstGeom prst="roundRect">
            <a:avLst>
              <a:gd name="adj" fmla="val 5000"/>
            </a:avLst>
          </a:prstGeom>
          <a:solidFill>
            <a:srgbClr val="E8EEFB"/>
          </a:solidFill>
          <a:ln>
            <a:noFill/>
          </a:ln>
        </p:spPr>
        <p:txBody>
          <a:bodyPr wrap="square" lIns="182880" tIns="146304" rIns="182880" bIns="146304" rtlCol="0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sz="2250" b="1" i="0">
                <a:solidFill>
                  <a:srgbClr val="1F4E9E"/>
                </a:solidFill>
                <a:latin typeface="Calibri"/>
              </a:rPr>
              <a:t>2. Human Errors</a:t>
            </a:r>
          </a:p>
          <a:p>
            <a:pPr algn="l">
              <a:spcAft>
                <a:spcPts val="300"/>
              </a:spcAft>
            </a:pPr>
            <a:r>
              <a:rPr sz="2100" b="0" i="0">
                <a:solidFill>
                  <a:srgbClr val="262626"/>
                </a:solidFill>
                <a:latin typeface="Calibri"/>
              </a:rPr>
              <a:t>Manual records cause mistakes.</a:t>
            </a:r>
          </a:p>
        </p:txBody>
      </p:sp>
      <p:sp>
        <p:nvSpPr>
          <p:cNvPr id="11" name="Oval 10"/>
          <p:cNvSpPr/>
          <p:nvPr/>
        </p:nvSpPr>
        <p:spPr>
          <a:xfrm>
            <a:off x="7223760" y="1527048"/>
            <a:ext cx="411480" cy="411480"/>
          </a:xfrm>
          <a:prstGeom prst="ellipse">
            <a:avLst/>
          </a:prstGeom>
          <a:solidFill>
            <a:srgbClr val="1F4E9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endParaRPr/>
          </a:p>
        </p:txBody>
      </p:sp>
      <p:pic>
        <p:nvPicPr>
          <p:cNvPr id="12" name="Picture 11" descr="exclam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6630" y="1629918"/>
            <a:ext cx="205740" cy="20574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010144" y="1417320"/>
            <a:ext cx="3447288" cy="1554480"/>
          </a:xfrm>
          <a:prstGeom prst="roundRect">
            <a:avLst>
              <a:gd name="adj" fmla="val 5000"/>
            </a:avLst>
          </a:prstGeom>
          <a:solidFill>
            <a:srgbClr val="E6F5F1"/>
          </a:solidFill>
          <a:ln>
            <a:noFill/>
          </a:ln>
        </p:spPr>
        <p:txBody>
          <a:bodyPr wrap="square" lIns="182880" tIns="146304" rIns="182880" bIns="146304" rtlCol="0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sz="2250" b="1" i="0">
                <a:solidFill>
                  <a:srgbClr val="0F8F7A"/>
                </a:solidFill>
                <a:latin typeface="Calibri"/>
              </a:rPr>
              <a:t>3. Proxy Attendance</a:t>
            </a:r>
          </a:p>
          <a:p>
            <a:pPr algn="l">
              <a:spcAft>
                <a:spcPts val="300"/>
              </a:spcAft>
            </a:pPr>
            <a:r>
              <a:rPr sz="2100" b="0" i="0">
                <a:solidFill>
                  <a:srgbClr val="262626"/>
                </a:solidFill>
                <a:latin typeface="Calibri"/>
              </a:rPr>
              <a:t>Students mark for absent friends.</a:t>
            </a:r>
          </a:p>
        </p:txBody>
      </p:sp>
      <p:sp>
        <p:nvSpPr>
          <p:cNvPr id="14" name="Oval 13"/>
          <p:cNvSpPr/>
          <p:nvPr/>
        </p:nvSpPr>
        <p:spPr>
          <a:xfrm>
            <a:off x="10863072" y="1527048"/>
            <a:ext cx="411480" cy="411480"/>
          </a:xfrm>
          <a:prstGeom prst="ellipse">
            <a:avLst/>
          </a:prstGeom>
          <a:solidFill>
            <a:srgbClr val="0F8F7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endParaRPr/>
          </a:p>
        </p:txBody>
      </p:sp>
      <p:pic>
        <p:nvPicPr>
          <p:cNvPr id="15" name="Picture 14" descr="usersecr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5942" y="1629918"/>
            <a:ext cx="205740" cy="20574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31520" y="3108960"/>
            <a:ext cx="3447288" cy="1554480"/>
          </a:xfrm>
          <a:prstGeom prst="roundRect">
            <a:avLst>
              <a:gd name="adj" fmla="val 5000"/>
            </a:avLst>
          </a:prstGeom>
          <a:solidFill>
            <a:srgbClr val="FFF3DC"/>
          </a:solidFill>
          <a:ln>
            <a:noFill/>
          </a:ln>
        </p:spPr>
        <p:txBody>
          <a:bodyPr wrap="square" lIns="182880" tIns="146304" rIns="182880" bIns="146304" rtlCol="0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sz="2250" b="1" i="0">
                <a:solidFill>
                  <a:srgbClr val="C77700"/>
                </a:solidFill>
                <a:latin typeface="Calibri"/>
              </a:rPr>
              <a:t>4. Late Updates</a:t>
            </a:r>
          </a:p>
          <a:p>
            <a:pPr algn="l">
              <a:spcAft>
                <a:spcPts val="300"/>
              </a:spcAft>
            </a:pPr>
            <a:r>
              <a:rPr sz="2100" b="0" i="0">
                <a:solidFill>
                  <a:srgbClr val="262626"/>
                </a:solidFill>
                <a:latin typeface="Calibri"/>
              </a:rPr>
              <a:t>Students learn of shortages too late.</a:t>
            </a:r>
          </a:p>
        </p:txBody>
      </p:sp>
      <p:sp>
        <p:nvSpPr>
          <p:cNvPr id="17" name="Oval 16"/>
          <p:cNvSpPr/>
          <p:nvPr/>
        </p:nvSpPr>
        <p:spPr>
          <a:xfrm>
            <a:off x="3584448" y="3218688"/>
            <a:ext cx="411480" cy="411480"/>
          </a:xfrm>
          <a:prstGeom prst="ellipse">
            <a:avLst/>
          </a:prstGeom>
          <a:solidFill>
            <a:srgbClr val="C777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endParaRPr/>
          </a:p>
        </p:txBody>
      </p:sp>
      <p:pic>
        <p:nvPicPr>
          <p:cNvPr id="18" name="Picture 17" descr="be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7318" y="3321558"/>
            <a:ext cx="205740" cy="20574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370832" y="3108960"/>
            <a:ext cx="3447288" cy="1554480"/>
          </a:xfrm>
          <a:prstGeom prst="roundRect">
            <a:avLst>
              <a:gd name="adj" fmla="val 5000"/>
            </a:avLst>
          </a:prstGeom>
          <a:solidFill>
            <a:srgbClr val="FDECEC"/>
          </a:solidFill>
          <a:ln>
            <a:noFill/>
          </a:ln>
        </p:spPr>
        <p:txBody>
          <a:bodyPr wrap="square" lIns="182880" tIns="146304" rIns="182880" bIns="146304" rtlCol="0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sz="2250" b="1" i="0">
                <a:solidFill>
                  <a:srgbClr val="C00000"/>
                </a:solidFill>
                <a:latin typeface="Calibri"/>
              </a:rPr>
              <a:t>5. Manual Reports</a:t>
            </a:r>
          </a:p>
          <a:p>
            <a:pPr algn="l">
              <a:spcAft>
                <a:spcPts val="300"/>
              </a:spcAft>
            </a:pPr>
            <a:r>
              <a:rPr sz="2100" b="0" i="0">
                <a:solidFill>
                  <a:srgbClr val="262626"/>
                </a:solidFill>
                <a:latin typeface="Calibri"/>
              </a:rPr>
              <a:t>Percentages are calculated by hand.</a:t>
            </a:r>
          </a:p>
        </p:txBody>
      </p:sp>
      <p:sp>
        <p:nvSpPr>
          <p:cNvPr id="20" name="Oval 19"/>
          <p:cNvSpPr/>
          <p:nvPr/>
        </p:nvSpPr>
        <p:spPr>
          <a:xfrm>
            <a:off x="7223760" y="3218688"/>
            <a:ext cx="411480" cy="4114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endParaRPr/>
          </a:p>
        </p:txBody>
      </p:sp>
      <p:pic>
        <p:nvPicPr>
          <p:cNvPr id="21" name="Picture 20" descr="fi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6630" y="3321558"/>
            <a:ext cx="205740" cy="20574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8010144" y="3108960"/>
            <a:ext cx="3447288" cy="1554480"/>
          </a:xfrm>
          <a:prstGeom prst="roundRect">
            <a:avLst>
              <a:gd name="adj" fmla="val 5000"/>
            </a:avLst>
          </a:prstGeom>
          <a:solidFill>
            <a:srgbClr val="E8EEFB"/>
          </a:solidFill>
          <a:ln>
            <a:noFill/>
          </a:ln>
        </p:spPr>
        <p:txBody>
          <a:bodyPr wrap="square" lIns="182880" tIns="146304" rIns="182880" bIns="146304" rtlCol="0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sz="2250" b="1" i="0">
                <a:solidFill>
                  <a:srgbClr val="1F4E9E"/>
                </a:solidFill>
                <a:latin typeface="Calibri"/>
              </a:rPr>
              <a:t>6. No Early Warning</a:t>
            </a:r>
          </a:p>
          <a:p>
            <a:pPr algn="l">
              <a:spcAft>
                <a:spcPts val="300"/>
              </a:spcAft>
            </a:pPr>
            <a:r>
              <a:rPr sz="2100" b="0" i="0">
                <a:solidFill>
                  <a:srgbClr val="262626"/>
                </a:solidFill>
                <a:latin typeface="Calibri"/>
              </a:rPr>
              <a:t>Low attendance is spotted late.</a:t>
            </a:r>
          </a:p>
        </p:txBody>
      </p:sp>
      <p:sp>
        <p:nvSpPr>
          <p:cNvPr id="23" name="Oval 22"/>
          <p:cNvSpPr/>
          <p:nvPr/>
        </p:nvSpPr>
        <p:spPr>
          <a:xfrm>
            <a:off x="10863072" y="3218688"/>
            <a:ext cx="411480" cy="411480"/>
          </a:xfrm>
          <a:prstGeom prst="ellipse">
            <a:avLst/>
          </a:prstGeom>
          <a:solidFill>
            <a:srgbClr val="1F4E9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endParaRPr/>
          </a:p>
        </p:txBody>
      </p:sp>
      <p:pic>
        <p:nvPicPr>
          <p:cNvPr id="24" name="Picture 23" descr="chartlin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65942" y="3321558"/>
            <a:ext cx="205740" cy="20574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731520" y="4846320"/>
            <a:ext cx="10725912" cy="1188720"/>
          </a:xfrm>
          <a:prstGeom prst="roundRect">
            <a:avLst>
              <a:gd name="adj" fmla="val 5000"/>
            </a:avLst>
          </a:prstGeom>
          <a:solidFill>
            <a:srgbClr val="C00000"/>
          </a:solidFill>
          <a:ln>
            <a:noFill/>
          </a:ln>
        </p:spPr>
        <p:txBody>
          <a:bodyPr wrap="square" lIns="228600" tIns="182880" rIns="228600" bIns="182880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Problem Statement</a:t>
            </a:r>
          </a:p>
          <a:p>
            <a:pPr algn="l">
              <a:spcAft>
                <a:spcPts val="300"/>
              </a:spcAft>
            </a:pPr>
            <a:r>
              <a:rPr sz="2100" b="0" i="0">
                <a:solidFill>
                  <a:srgbClr val="FFFFFF"/>
                </a:solidFill>
                <a:latin typeface="Calibri"/>
              </a:rPr>
              <a:t>How can we build a simple, automated attendance system that saves time, reduces errors and prevents proxy attendance?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1520" y="365760"/>
            <a:ext cx="10725912" cy="6949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0" dirty="0"/>
              <a:t>Research / Facts / Market &amp; Industry Study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E3C74381-BE4E-DEC6-D1B5-C788904343F1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2542032" cy="2651760"/>
          </a:xfrm>
          <a:prstGeom prst="roundRect">
            <a:avLst>
              <a:gd name="adj" fmla="val 5000"/>
            </a:avLst>
          </a:prstGeom>
          <a:solidFill>
            <a:srgbClr val="FDECEC"/>
          </a:solidFill>
          <a:ln>
            <a:noFill/>
          </a:ln>
        </p:spPr>
        <p:txBody>
          <a:bodyPr wrap="square" lIns="182880" tIns="146304" rIns="182880" bIns="146304" rtlCol="0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sz="2300" b="1" i="0">
                <a:solidFill>
                  <a:srgbClr val="C00000"/>
                </a:solidFill>
                <a:latin typeface="Calibri"/>
              </a:rPr>
              <a:t>1. Manual</a:t>
            </a:r>
          </a:p>
          <a:p>
            <a:pPr marL="182880" indent="-182880" algn="l">
              <a:spcAft>
                <a:spcPts val="300"/>
              </a:spcAft>
              <a:buClr>
                <a:srgbClr val="C00000"/>
              </a:buClr>
              <a:buChar char="•"/>
            </a:pPr>
            <a:r>
              <a:rPr sz="1950" b="0" i="0">
                <a:solidFill>
                  <a:srgbClr val="262626"/>
                </a:solidFill>
                <a:latin typeface="Calibri"/>
              </a:rPr>
              <a:t>Roll calls in registers</a:t>
            </a:r>
          </a:p>
          <a:p>
            <a:pPr marL="182880" indent="-182880" algn="l">
              <a:spcAft>
                <a:spcPts val="300"/>
              </a:spcAft>
              <a:buClr>
                <a:srgbClr val="C00000"/>
              </a:buClr>
              <a:buChar char="•"/>
            </a:pPr>
            <a:r>
              <a:rPr sz="1950" b="0" i="0">
                <a:solidFill>
                  <a:srgbClr val="262626"/>
                </a:solidFill>
                <a:latin typeface="Calibri"/>
              </a:rPr>
              <a:t>Hand calculations</a:t>
            </a:r>
          </a:p>
        </p:txBody>
      </p:sp>
      <p:sp>
        <p:nvSpPr>
          <p:cNvPr id="8" name="Oval 7"/>
          <p:cNvSpPr/>
          <p:nvPr/>
        </p:nvSpPr>
        <p:spPr>
          <a:xfrm>
            <a:off x="2633472" y="1572768"/>
            <a:ext cx="457200" cy="4572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endParaRPr/>
          </a:p>
        </p:txBody>
      </p:sp>
      <p:pic>
        <p:nvPicPr>
          <p:cNvPr id="9" name="Picture 8" descr="clip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772" y="1687068"/>
            <a:ext cx="228600" cy="2286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459480" y="1463040"/>
            <a:ext cx="2542032" cy="2651760"/>
          </a:xfrm>
          <a:prstGeom prst="roundRect">
            <a:avLst>
              <a:gd name="adj" fmla="val 5000"/>
            </a:avLst>
          </a:prstGeom>
          <a:solidFill>
            <a:srgbClr val="E8EEFB"/>
          </a:solidFill>
          <a:ln>
            <a:noFill/>
          </a:ln>
        </p:spPr>
        <p:txBody>
          <a:bodyPr wrap="square" lIns="182880" tIns="146304" rIns="182880" bIns="146304" rtlCol="0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sz="2300" b="1" i="0">
                <a:solidFill>
                  <a:srgbClr val="1F4E9E"/>
                </a:solidFill>
                <a:latin typeface="Calibri"/>
              </a:rPr>
              <a:t>2. Biometric</a:t>
            </a:r>
          </a:p>
          <a:p>
            <a:pPr marL="182880" indent="-182880" algn="l">
              <a:spcAft>
                <a:spcPts val="300"/>
              </a:spcAft>
              <a:buClr>
                <a:srgbClr val="1F4E9E"/>
              </a:buClr>
              <a:buChar char="•"/>
            </a:pPr>
            <a:r>
              <a:rPr sz="1950" b="0" i="0">
                <a:solidFill>
                  <a:srgbClr val="262626"/>
                </a:solidFill>
                <a:latin typeface="Calibri"/>
              </a:rPr>
              <a:t>Needs special hardware</a:t>
            </a:r>
          </a:p>
          <a:p>
            <a:pPr marL="182880" indent="-182880" algn="l">
              <a:spcAft>
                <a:spcPts val="300"/>
              </a:spcAft>
              <a:buClr>
                <a:srgbClr val="1F4E9E"/>
              </a:buClr>
              <a:buChar char="•"/>
            </a:pPr>
            <a:r>
              <a:rPr sz="1950" b="0" i="0">
                <a:solidFill>
                  <a:srgbClr val="262626"/>
                </a:solidFill>
                <a:latin typeface="Calibri"/>
              </a:rPr>
              <a:t>High maintenance cost</a:t>
            </a:r>
          </a:p>
        </p:txBody>
      </p:sp>
      <p:sp>
        <p:nvSpPr>
          <p:cNvPr id="11" name="Oval 10"/>
          <p:cNvSpPr/>
          <p:nvPr/>
        </p:nvSpPr>
        <p:spPr>
          <a:xfrm>
            <a:off x="5361431" y="1572768"/>
            <a:ext cx="457200" cy="457200"/>
          </a:xfrm>
          <a:prstGeom prst="ellipse">
            <a:avLst/>
          </a:prstGeom>
          <a:solidFill>
            <a:srgbClr val="1F4E9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endParaRPr/>
          </a:p>
        </p:txBody>
      </p:sp>
      <p:pic>
        <p:nvPicPr>
          <p:cNvPr id="12" name="Picture 11" descr="fingerpr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5731" y="1687068"/>
            <a:ext cx="228600" cy="2286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187440" y="1463040"/>
            <a:ext cx="2542032" cy="2651760"/>
          </a:xfrm>
          <a:prstGeom prst="roundRect">
            <a:avLst>
              <a:gd name="adj" fmla="val 5000"/>
            </a:avLst>
          </a:prstGeom>
          <a:solidFill>
            <a:srgbClr val="E6F5F1"/>
          </a:solidFill>
          <a:ln>
            <a:noFill/>
          </a:ln>
        </p:spPr>
        <p:txBody>
          <a:bodyPr wrap="square" lIns="182880" tIns="146304" rIns="182880" bIns="146304" rtlCol="0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sz="2300" b="1" i="0">
                <a:solidFill>
                  <a:srgbClr val="0F8F7A"/>
                </a:solidFill>
                <a:latin typeface="Calibri"/>
              </a:rPr>
              <a:t>3. RFID</a:t>
            </a:r>
          </a:p>
          <a:p>
            <a:pPr marL="182880" indent="-182880" algn="l">
              <a:spcAft>
                <a:spcPts val="300"/>
              </a:spcAft>
              <a:buClr>
                <a:srgbClr val="0F8F7A"/>
              </a:buClr>
              <a:buChar char="•"/>
            </a:pPr>
            <a:r>
              <a:rPr sz="1950" b="0" i="0">
                <a:solidFill>
                  <a:srgbClr val="262626"/>
                </a:solidFill>
                <a:latin typeface="Calibri"/>
              </a:rPr>
              <a:t>Needs card readers</a:t>
            </a:r>
          </a:p>
          <a:p>
            <a:pPr marL="182880" indent="-182880" algn="l">
              <a:spcAft>
                <a:spcPts val="300"/>
              </a:spcAft>
              <a:buClr>
                <a:srgbClr val="0F8F7A"/>
              </a:buClr>
              <a:buChar char="•"/>
            </a:pPr>
            <a:r>
              <a:rPr sz="1950" b="0" i="0">
                <a:solidFill>
                  <a:srgbClr val="262626"/>
                </a:solidFill>
                <a:latin typeface="Calibri"/>
              </a:rPr>
              <a:t>Cards can be shared</a:t>
            </a:r>
          </a:p>
        </p:txBody>
      </p:sp>
      <p:sp>
        <p:nvSpPr>
          <p:cNvPr id="14" name="Oval 13"/>
          <p:cNvSpPr/>
          <p:nvPr/>
        </p:nvSpPr>
        <p:spPr>
          <a:xfrm>
            <a:off x="8089392" y="1572768"/>
            <a:ext cx="457200" cy="457200"/>
          </a:xfrm>
          <a:prstGeom prst="ellipse">
            <a:avLst/>
          </a:prstGeom>
          <a:solidFill>
            <a:srgbClr val="0F8F7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endParaRPr/>
          </a:p>
        </p:txBody>
      </p:sp>
      <p:pic>
        <p:nvPicPr>
          <p:cNvPr id="15" name="Picture 14" descr="idc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3692" y="1687068"/>
            <a:ext cx="228600" cy="2286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8915400" y="1463040"/>
            <a:ext cx="2542032" cy="2651760"/>
          </a:xfrm>
          <a:prstGeom prst="roundRect">
            <a:avLst>
              <a:gd name="adj" fmla="val 5000"/>
            </a:avLst>
          </a:prstGeom>
          <a:solidFill>
            <a:srgbClr val="C00000"/>
          </a:solidFill>
          <a:ln>
            <a:noFill/>
          </a:ln>
        </p:spPr>
        <p:txBody>
          <a:bodyPr wrap="square" lIns="182880" tIns="146304" rIns="182880" bIns="146304" rtlCol="0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4. QR-Based</a:t>
            </a:r>
          </a:p>
          <a:p>
            <a:pPr marL="182880" indent="-182880" algn="l">
              <a:spcAft>
                <a:spcPts val="300"/>
              </a:spcAft>
              <a:buClr>
                <a:srgbClr val="FFFFFF"/>
              </a:buClr>
              <a:buChar char="•"/>
            </a:pPr>
            <a:r>
              <a:rPr sz="1950" b="0" i="0">
                <a:solidFill>
                  <a:srgbClr val="FFFFFF"/>
                </a:solidFill>
                <a:latin typeface="Calibri"/>
              </a:rPr>
              <a:t>Uses students' smartphones</a:t>
            </a:r>
          </a:p>
          <a:p>
            <a:pPr marL="182880" indent="-182880" algn="l">
              <a:spcAft>
                <a:spcPts val="300"/>
              </a:spcAft>
              <a:buClr>
                <a:srgbClr val="FFFFFF"/>
              </a:buClr>
              <a:buChar char="•"/>
            </a:pPr>
            <a:r>
              <a:rPr sz="1950" b="0" i="0">
                <a:solidFill>
                  <a:srgbClr val="FFFFFF"/>
                </a:solidFill>
                <a:latin typeface="Calibri"/>
              </a:rPr>
              <a:t>No extra hardware</a:t>
            </a:r>
          </a:p>
        </p:txBody>
      </p:sp>
      <p:sp>
        <p:nvSpPr>
          <p:cNvPr id="17" name="Oval 16"/>
          <p:cNvSpPr/>
          <p:nvPr/>
        </p:nvSpPr>
        <p:spPr>
          <a:xfrm>
            <a:off x="10817352" y="1572768"/>
            <a:ext cx="457200" cy="457200"/>
          </a:xfrm>
          <a:prstGeom prst="ellipse">
            <a:avLst/>
          </a:prstGeom>
          <a:solidFill>
            <a:srgbClr val="7A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endParaRPr/>
          </a:p>
        </p:txBody>
      </p:sp>
      <p:pic>
        <p:nvPicPr>
          <p:cNvPr id="18" name="Picture 17" descr="qrc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31652" y="1687068"/>
            <a:ext cx="228600" cy="22860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731520" y="4389120"/>
            <a:ext cx="10725912" cy="1097280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>
            <a:noFill/>
          </a:ln>
        </p:spPr>
        <p:txBody>
          <a:bodyPr wrap="square" lIns="228600" tIns="182880" rIns="228600" bIns="182880" rtlCol="0" anchor="ctr">
            <a:noAutofit/>
          </a:bodyPr>
          <a:lstStyle/>
          <a:p>
            <a:pPr algn="l">
              <a:spcAft>
                <a:spcPts val="200"/>
              </a:spcAft>
            </a:pPr>
            <a:r>
              <a:rPr sz="1850" b="1" i="0">
                <a:solidFill>
                  <a:srgbClr val="C00000"/>
                </a:solidFill>
                <a:latin typeface="Calibri"/>
              </a:rPr>
              <a:t>Our Observation</a:t>
            </a:r>
          </a:p>
          <a:p>
            <a:pPr algn="l">
              <a:spcAft>
                <a:spcPts val="300"/>
              </a:spcAft>
            </a:pPr>
            <a:r>
              <a:rPr sz="1950" b="0" i="0">
                <a:solidFill>
                  <a:srgbClr val="262626"/>
                </a:solidFill>
                <a:latin typeface="Calibri"/>
              </a:rPr>
              <a:t>A QR-based system is simple, affordable and easy to connect with an analytics dashboard.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62356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400" b="0" i="1">
                <a:solidFill>
                  <a:srgbClr val="595959"/>
                </a:solidFill>
                <a:latin typeface="Calibri"/>
              </a:rPr>
              <a:t>Based on a study of existing methods; not a completed market survey.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1520" y="365760"/>
            <a:ext cx="10725912" cy="6949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30" dirty="0"/>
              <a:t>Target User - Customer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D784422-014D-5CEE-BDAB-EBC6EA68141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2542032" cy="3383280"/>
          </a:xfrm>
          <a:prstGeom prst="roundRect">
            <a:avLst>
              <a:gd name="adj" fmla="val 5000"/>
            </a:avLst>
          </a:prstGeom>
          <a:solidFill>
            <a:srgbClr val="FDECEC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14400" y="1645920"/>
            <a:ext cx="731520" cy="73152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endParaRPr/>
          </a:p>
        </p:txBody>
      </p:sp>
      <p:pic>
        <p:nvPicPr>
          <p:cNvPr id="9" name="Picture 8" descr="gradu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28800"/>
            <a:ext cx="365760" cy="365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2468880"/>
            <a:ext cx="2359151" cy="457200"/>
          </a:xfrm>
          <a:prstGeom prst="rect">
            <a:avLst/>
          </a:prstGeom>
          <a:noFill/>
        </p:spPr>
        <p:txBody>
          <a:bodyPr wrap="square" tIns="73152" bIns="73152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C00000"/>
                </a:solidFill>
                <a:latin typeface="Calibri"/>
              </a:rPr>
              <a:t>Students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17520"/>
            <a:ext cx="2359151" cy="1737360"/>
          </a:xfrm>
          <a:prstGeom prst="rect">
            <a:avLst/>
          </a:prstGeom>
          <a:noFill/>
        </p:spPr>
        <p:txBody>
          <a:bodyPr wrap="square" tIns="73152" bIns="73152" anchor="t">
            <a:noAutofit/>
          </a:bodyPr>
          <a:lstStyle/>
          <a:p>
            <a:pPr marL="182880" indent="-182880" algn="l">
              <a:spcAft>
                <a:spcPts val="800"/>
              </a:spcAft>
              <a:buClr>
                <a:srgbClr val="C00000"/>
              </a:buClr>
              <a:buChar char="•"/>
            </a:pPr>
            <a:r>
              <a:rPr sz="1850" b="0" i="0">
                <a:solidFill>
                  <a:srgbClr val="262626"/>
                </a:solidFill>
                <a:latin typeface="Calibri"/>
              </a:rPr>
              <a:t>Check attendance anytime</a:t>
            </a:r>
          </a:p>
          <a:p>
            <a:pPr marL="182880" indent="-182880" algn="l">
              <a:spcAft>
                <a:spcPts val="800"/>
              </a:spcAft>
              <a:buClr>
                <a:srgbClr val="C00000"/>
              </a:buClr>
              <a:buChar char="•"/>
            </a:pPr>
            <a:r>
              <a:rPr sz="1850" b="0" i="0">
                <a:solidFill>
                  <a:srgbClr val="262626"/>
                </a:solidFill>
                <a:latin typeface="Calibri"/>
              </a:rPr>
              <a:t>See subject-wise %</a:t>
            </a:r>
          </a:p>
          <a:p>
            <a:pPr marL="182880" indent="-182880" algn="l">
              <a:spcAft>
                <a:spcPts val="800"/>
              </a:spcAft>
              <a:buClr>
                <a:srgbClr val="C00000"/>
              </a:buClr>
              <a:buChar char="•"/>
            </a:pPr>
            <a:r>
              <a:rPr sz="1850" b="0" i="0">
                <a:solidFill>
                  <a:srgbClr val="262626"/>
                </a:solidFill>
                <a:latin typeface="Calibri"/>
              </a:rPr>
              <a:t>Get low-attendance alerts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9480" y="1463040"/>
            <a:ext cx="2542032" cy="3383280"/>
          </a:xfrm>
          <a:prstGeom prst="roundRect">
            <a:avLst>
              <a:gd name="adj" fmla="val 5000"/>
            </a:avLst>
          </a:prstGeom>
          <a:solidFill>
            <a:srgbClr val="E8EEFB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642360" y="1645920"/>
            <a:ext cx="731520" cy="731520"/>
          </a:xfrm>
          <a:prstGeom prst="ellipse">
            <a:avLst/>
          </a:prstGeom>
          <a:solidFill>
            <a:srgbClr val="1F4E9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endParaRPr/>
          </a:p>
        </p:txBody>
      </p:sp>
      <p:pic>
        <p:nvPicPr>
          <p:cNvPr id="14" name="Picture 13" descr="teach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5240" y="1828800"/>
            <a:ext cx="365760" cy="3657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550920" y="2468880"/>
            <a:ext cx="2359151" cy="457200"/>
          </a:xfrm>
          <a:prstGeom prst="rect">
            <a:avLst/>
          </a:prstGeom>
          <a:noFill/>
        </p:spPr>
        <p:txBody>
          <a:bodyPr wrap="square" tIns="73152" bIns="73152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1F4E9E"/>
                </a:solidFill>
                <a:latin typeface="Calibri"/>
              </a:rPr>
              <a:t>Faculty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0920" y="3017520"/>
            <a:ext cx="2359151" cy="1737360"/>
          </a:xfrm>
          <a:prstGeom prst="rect">
            <a:avLst/>
          </a:prstGeom>
          <a:noFill/>
        </p:spPr>
        <p:txBody>
          <a:bodyPr wrap="square" tIns="73152" bIns="73152" anchor="t">
            <a:noAutofit/>
          </a:bodyPr>
          <a:lstStyle/>
          <a:p>
            <a:pPr marL="182880" indent="-182880" algn="l">
              <a:spcAft>
                <a:spcPts val="800"/>
              </a:spcAft>
              <a:buClr>
                <a:srgbClr val="C00000"/>
              </a:buClr>
              <a:buChar char="•"/>
            </a:pPr>
            <a:r>
              <a:rPr sz="1850" b="0" i="0">
                <a:solidFill>
                  <a:srgbClr val="262626"/>
                </a:solidFill>
                <a:latin typeface="Calibri"/>
              </a:rPr>
              <a:t>Mark attendance via QR</a:t>
            </a:r>
          </a:p>
          <a:p>
            <a:pPr marL="182880" indent="-182880" algn="l">
              <a:spcAft>
                <a:spcPts val="800"/>
              </a:spcAft>
              <a:buClr>
                <a:srgbClr val="C00000"/>
              </a:buClr>
              <a:buChar char="•"/>
            </a:pPr>
            <a:r>
              <a:rPr sz="1850" b="0" i="0">
                <a:solidFill>
                  <a:srgbClr val="262626"/>
                </a:solidFill>
                <a:latin typeface="Calibri"/>
              </a:rPr>
              <a:t>No paper registers</a:t>
            </a:r>
          </a:p>
          <a:p>
            <a:pPr marL="182880" indent="-182880" algn="l">
              <a:spcAft>
                <a:spcPts val="800"/>
              </a:spcAft>
              <a:buClr>
                <a:srgbClr val="C00000"/>
              </a:buClr>
              <a:buChar char="•"/>
            </a:pPr>
            <a:r>
              <a:rPr sz="1850" b="0" i="0">
                <a:solidFill>
                  <a:srgbClr val="262626"/>
                </a:solidFill>
                <a:latin typeface="Calibri"/>
              </a:rPr>
              <a:t>Auto-generated reports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7440" y="1463040"/>
            <a:ext cx="2542032" cy="3383280"/>
          </a:xfrm>
          <a:prstGeom prst="roundRect">
            <a:avLst>
              <a:gd name="adj" fmla="val 5000"/>
            </a:avLst>
          </a:prstGeom>
          <a:solidFill>
            <a:srgbClr val="E6F5F1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370320" y="1645920"/>
            <a:ext cx="731520" cy="731520"/>
          </a:xfrm>
          <a:prstGeom prst="ellipse">
            <a:avLst/>
          </a:prstGeom>
          <a:solidFill>
            <a:srgbClr val="0F8F7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endParaRPr/>
          </a:p>
        </p:txBody>
      </p:sp>
      <p:pic>
        <p:nvPicPr>
          <p:cNvPr id="19" name="Picture 18" descr="univers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0" y="1828800"/>
            <a:ext cx="365760" cy="3657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278880" y="2468880"/>
            <a:ext cx="2359151" cy="457200"/>
          </a:xfrm>
          <a:prstGeom prst="rect">
            <a:avLst/>
          </a:prstGeom>
          <a:noFill/>
        </p:spPr>
        <p:txBody>
          <a:bodyPr wrap="square" tIns="73152" bIns="73152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0F8F7A"/>
                </a:solidFill>
                <a:latin typeface="Calibri"/>
              </a:rPr>
              <a:t>HODs &amp; Admin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8880" y="3017520"/>
            <a:ext cx="2359151" cy="1737360"/>
          </a:xfrm>
          <a:prstGeom prst="rect">
            <a:avLst/>
          </a:prstGeom>
          <a:noFill/>
        </p:spPr>
        <p:txBody>
          <a:bodyPr wrap="square" tIns="73152" bIns="73152" anchor="t">
            <a:noAutofit/>
          </a:bodyPr>
          <a:lstStyle/>
          <a:p>
            <a:pPr marL="182880" indent="-182880" algn="l">
              <a:spcAft>
                <a:spcPts val="800"/>
              </a:spcAft>
              <a:buClr>
                <a:srgbClr val="C00000"/>
              </a:buClr>
              <a:buChar char="•"/>
            </a:pPr>
            <a:r>
              <a:rPr sz="1850" b="0" i="0">
                <a:solidFill>
                  <a:srgbClr val="262626"/>
                </a:solidFill>
                <a:latin typeface="Calibri"/>
              </a:rPr>
              <a:t>Monitor all classes</a:t>
            </a:r>
          </a:p>
          <a:p>
            <a:pPr marL="182880" indent="-182880" algn="l">
              <a:spcAft>
                <a:spcPts val="800"/>
              </a:spcAft>
              <a:buClr>
                <a:srgbClr val="C00000"/>
              </a:buClr>
              <a:buChar char="•"/>
            </a:pPr>
            <a:r>
              <a:rPr sz="1850" b="0" i="0">
                <a:solidFill>
                  <a:srgbClr val="262626"/>
                </a:solidFill>
                <a:latin typeface="Calibri"/>
              </a:rPr>
              <a:t>Spot shortages early</a:t>
            </a:r>
          </a:p>
          <a:p>
            <a:pPr marL="182880" indent="-182880" algn="l">
              <a:spcAft>
                <a:spcPts val="800"/>
              </a:spcAft>
              <a:buClr>
                <a:srgbClr val="C00000"/>
              </a:buClr>
              <a:buChar char="•"/>
            </a:pPr>
            <a:r>
              <a:rPr sz="1850" b="0" i="0">
                <a:solidFill>
                  <a:srgbClr val="262626"/>
                </a:solidFill>
                <a:latin typeface="Calibri"/>
              </a:rPr>
              <a:t>Plan using data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15400" y="1463040"/>
            <a:ext cx="2542032" cy="3383280"/>
          </a:xfrm>
          <a:prstGeom prst="roundRect">
            <a:avLst>
              <a:gd name="adj" fmla="val 5000"/>
            </a:avLst>
          </a:prstGeom>
          <a:solidFill>
            <a:srgbClr val="FFF3DC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098280" y="1645920"/>
            <a:ext cx="731520" cy="731520"/>
          </a:xfrm>
          <a:prstGeom prst="ellipse">
            <a:avLst/>
          </a:prstGeom>
          <a:solidFill>
            <a:srgbClr val="C777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endParaRPr/>
          </a:p>
        </p:txBody>
      </p:sp>
      <p:pic>
        <p:nvPicPr>
          <p:cNvPr id="24" name="Picture 23" descr="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59" y="1828800"/>
            <a:ext cx="365760" cy="3657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006840" y="2468880"/>
            <a:ext cx="2359151" cy="457200"/>
          </a:xfrm>
          <a:prstGeom prst="rect">
            <a:avLst/>
          </a:prstGeom>
          <a:noFill/>
        </p:spPr>
        <p:txBody>
          <a:bodyPr wrap="square" tIns="73152" bIns="73152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C77700"/>
                </a:solidFill>
                <a:latin typeface="Calibri"/>
              </a:rPr>
              <a:t>Parents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3017520"/>
            <a:ext cx="2359151" cy="1737360"/>
          </a:xfrm>
          <a:prstGeom prst="rect">
            <a:avLst/>
          </a:prstGeom>
          <a:noFill/>
        </p:spPr>
        <p:txBody>
          <a:bodyPr wrap="square" tIns="73152" bIns="73152" anchor="t">
            <a:noAutofit/>
          </a:bodyPr>
          <a:lstStyle/>
          <a:p>
            <a:pPr marL="182880" indent="-182880" algn="l">
              <a:spcAft>
                <a:spcPts val="800"/>
              </a:spcAft>
              <a:buClr>
                <a:srgbClr val="C00000"/>
              </a:buClr>
              <a:buChar char="•"/>
            </a:pPr>
            <a:r>
              <a:rPr sz="1850" b="0" i="0">
                <a:solidFill>
                  <a:srgbClr val="262626"/>
                </a:solidFill>
                <a:latin typeface="Calibri"/>
              </a:rPr>
              <a:t>Get low-attendance updates</a:t>
            </a:r>
          </a:p>
          <a:p>
            <a:pPr marL="182880" indent="-182880" algn="l">
              <a:spcAft>
                <a:spcPts val="800"/>
              </a:spcAft>
              <a:buClr>
                <a:srgbClr val="C00000"/>
              </a:buClr>
              <a:buChar char="•"/>
            </a:pPr>
            <a:r>
              <a:rPr sz="1850" b="0" i="0">
                <a:solidFill>
                  <a:srgbClr val="262626"/>
                </a:solidFill>
                <a:latin typeface="Calibri"/>
              </a:rPr>
              <a:t>Stay informed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074920"/>
            <a:ext cx="10725912" cy="822960"/>
          </a:xfrm>
          <a:prstGeom prst="roundRect">
            <a:avLst>
              <a:gd name="adj" fmla="val 5000"/>
            </a:avLst>
          </a:prstGeom>
          <a:solidFill>
            <a:srgbClr val="C00000"/>
          </a:solidFill>
          <a:ln>
            <a:noFill/>
          </a:ln>
        </p:spPr>
        <p:txBody>
          <a:bodyPr wrap="square" lIns="228600" tIns="182880" rIns="228600" bIns="182880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Primary customers:  </a:t>
            </a:r>
            <a:r>
              <a:rPr sz="2300" b="0" i="0">
                <a:solidFill>
                  <a:srgbClr val="FFFFFF"/>
                </a:solidFill>
                <a:latin typeface="Calibri"/>
              </a:rPr>
              <a:t>Colleges and universities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1520" y="365760"/>
            <a:ext cx="10725912" cy="6949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75" dirty="0"/>
              <a:t>Competitors / Benchmarks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9286AD64-7C4C-FDB5-E9DC-E5FA9F69634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71600"/>
          <a:ext cx="10725912" cy="2743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91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900" b="1" i="0">
                          <a:solidFill>
                            <a:srgbClr val="FFFFFF"/>
                          </a:solidFill>
                          <a:latin typeface="Calibri"/>
                        </a:rPr>
                        <a:t>Features</a:t>
                      </a:r>
                    </a:p>
                  </a:txBody>
                  <a:tcPr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900" b="1" i="0">
                          <a:solidFill>
                            <a:srgbClr val="FFFFFF"/>
                          </a:solidFill>
                          <a:latin typeface="Calibri"/>
                        </a:rPr>
                        <a:t>Manual</a:t>
                      </a:r>
                    </a:p>
                  </a:txBody>
                  <a:tcPr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900" b="1" i="0">
                          <a:solidFill>
                            <a:srgbClr val="FFFFFF"/>
                          </a:solidFill>
                          <a:latin typeface="Calibri"/>
                        </a:rPr>
                        <a:t>Biometric</a:t>
                      </a:r>
                    </a:p>
                  </a:txBody>
                  <a:tcPr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900" b="1" i="0">
                          <a:solidFill>
                            <a:srgbClr val="FFFFFF"/>
                          </a:solidFill>
                          <a:latin typeface="Calibri"/>
                        </a:rPr>
                        <a:t>Our System</a:t>
                      </a:r>
                    </a:p>
                  </a:txBody>
                  <a:tcPr marT="27432" marB="27432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900" b="1" i="0">
                          <a:solidFill>
                            <a:srgbClr val="C00000"/>
                          </a:solidFill>
                          <a:latin typeface="Calibri"/>
                        </a:rPr>
                        <a:t>Attendance marking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900" b="0" i="0">
                          <a:solidFill>
                            <a:srgbClr val="262626"/>
                          </a:solidFill>
                          <a:latin typeface="Calibri"/>
                        </a:rPr>
                        <a:t>Manual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900" b="0" i="0">
                          <a:solidFill>
                            <a:srgbClr val="262626"/>
                          </a:solidFill>
                          <a:latin typeface="Calibri"/>
                        </a:rPr>
                        <a:t>Automated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900" b="1" i="0">
                          <a:solidFill>
                            <a:srgbClr val="C00000"/>
                          </a:solidFill>
                          <a:latin typeface="Calibri"/>
                        </a:rPr>
                        <a:t>Automated</a:t>
                      </a:r>
                    </a:p>
                  </a:txBody>
                  <a:tcPr marT="27432" marB="27432" anchor="ctr">
                    <a:solidFill>
                      <a:srgbClr val="FD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900" b="1" i="0">
                          <a:solidFill>
                            <a:srgbClr val="C00000"/>
                          </a:solidFill>
                          <a:latin typeface="Calibri"/>
                        </a:rPr>
                        <a:t>Hardware</a:t>
                      </a:r>
                    </a:p>
                  </a:txBody>
                  <a:tcPr marT="27432" marB="27432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900" b="0" i="0">
                          <a:solidFill>
                            <a:srgbClr val="262626"/>
                          </a:solidFill>
                          <a:latin typeface="Calibri"/>
                        </a:rPr>
                        <a:t>Register</a:t>
                      </a:r>
                    </a:p>
                  </a:txBody>
                  <a:tcPr marT="27432" marB="27432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900" b="0" i="0">
                          <a:solidFill>
                            <a:srgbClr val="262626"/>
                          </a:solidFill>
                          <a:latin typeface="Calibri"/>
                        </a:rPr>
                        <a:t>Biometric device</a:t>
                      </a:r>
                    </a:p>
                  </a:txBody>
                  <a:tcPr marT="27432" marB="27432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900" b="1" i="0">
                          <a:solidFill>
                            <a:srgbClr val="C00000"/>
                          </a:solidFill>
                          <a:latin typeface="Calibri"/>
                        </a:rPr>
                        <a:t>Smartphone</a:t>
                      </a:r>
                    </a:p>
                  </a:txBody>
                  <a:tcPr marT="27432" marB="27432" anchor="ctr">
                    <a:solidFill>
                      <a:srgbClr val="FD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900" b="1" i="0">
                          <a:solidFill>
                            <a:srgbClr val="C00000"/>
                          </a:solidFill>
                          <a:latin typeface="Calibri"/>
                        </a:rPr>
                        <a:t>Low attendance alerts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900" b="0" i="0">
                          <a:solidFill>
                            <a:srgbClr val="262626"/>
                          </a:solidFill>
                          <a:latin typeface="Calibri"/>
                        </a:rPr>
                        <a:t>Usually manual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900" b="0" i="0">
                          <a:solidFill>
                            <a:srgbClr val="262626"/>
                          </a:solidFill>
                          <a:latin typeface="Calibri"/>
                        </a:rPr>
                        <a:t>Depends on software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900" b="1" i="0">
                          <a:solidFill>
                            <a:srgbClr val="C0000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T="27432" marB="27432" anchor="ctr">
                    <a:solidFill>
                      <a:srgbClr val="FD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900" b="1" i="0">
                          <a:solidFill>
                            <a:srgbClr val="C00000"/>
                          </a:solidFill>
                          <a:latin typeface="Calibri"/>
                        </a:rPr>
                        <a:t>Reports</a:t>
                      </a:r>
                    </a:p>
                  </a:txBody>
                  <a:tcPr marT="27432" marB="27432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900" b="0" i="0">
                          <a:solidFill>
                            <a:srgbClr val="262626"/>
                          </a:solidFill>
                          <a:latin typeface="Calibri"/>
                        </a:rPr>
                        <a:t>Manual</a:t>
                      </a:r>
                    </a:p>
                  </a:txBody>
                  <a:tcPr marT="27432" marB="27432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900" b="0" i="0">
                          <a:solidFill>
                            <a:srgbClr val="262626"/>
                          </a:solidFill>
                          <a:latin typeface="Calibri"/>
                        </a:rPr>
                        <a:t>Depends on software</a:t>
                      </a:r>
                    </a:p>
                  </a:txBody>
                  <a:tcPr marT="27432" marB="27432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900" b="1" i="0">
                          <a:solidFill>
                            <a:srgbClr val="C00000"/>
                          </a:solidFill>
                          <a:latin typeface="Calibri"/>
                        </a:rPr>
                        <a:t>Automatic</a:t>
                      </a:r>
                    </a:p>
                  </a:txBody>
                  <a:tcPr marT="27432" marB="27432" anchor="ctr">
                    <a:solidFill>
                      <a:srgbClr val="FD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900" b="1" i="0">
                          <a:solidFill>
                            <a:srgbClr val="C00000"/>
                          </a:solidFill>
                          <a:latin typeface="Calibri"/>
                        </a:rPr>
                        <a:t>Setup cost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900" b="0" i="0">
                          <a:solidFill>
                            <a:srgbClr val="262626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900" b="0" i="0">
                          <a:solidFill>
                            <a:srgbClr val="262626"/>
                          </a:solidFill>
                          <a:latin typeface="Calibri"/>
                        </a:rPr>
                        <a:t>Can be high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900" b="1" i="0">
                          <a:solidFill>
                            <a:srgbClr val="C00000"/>
                          </a:solidFill>
                          <a:latin typeface="Calibri"/>
                        </a:rPr>
                        <a:t>Expected to be low</a:t>
                      </a:r>
                    </a:p>
                  </a:txBody>
                  <a:tcPr marT="27432" marB="27432" anchor="ctr">
                    <a:solidFill>
                      <a:srgbClr val="FD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343400"/>
            <a:ext cx="1072591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2150" b="1" i="0">
                <a:solidFill>
                  <a:srgbClr val="C00000"/>
                </a:solidFill>
                <a:latin typeface="Calibri"/>
              </a:rPr>
              <a:t>What makes our idea different?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846320"/>
            <a:ext cx="2468880" cy="822960"/>
          </a:xfrm>
          <a:prstGeom prst="roundRect">
            <a:avLst>
              <a:gd name="adj" fmla="val 5000"/>
            </a:avLst>
          </a:prstGeom>
          <a:solidFill>
            <a:srgbClr val="FDECEC"/>
          </a:solidFill>
          <a:ln>
            <a:noFill/>
          </a:ln>
        </p:spPr>
        <p:txBody>
          <a:bodyPr wrap="square" lIns="73152" tIns="58521" rIns="73152" bIns="58521" rtlCol="0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sz="1900" b="1" i="0">
                <a:solidFill>
                  <a:srgbClr val="C00000"/>
                </a:solidFill>
                <a:latin typeface="Calibri"/>
              </a:rPr>
              <a:t>Dynamic QR attendance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83864" y="4846320"/>
            <a:ext cx="2468880" cy="822960"/>
          </a:xfrm>
          <a:prstGeom prst="roundRect">
            <a:avLst>
              <a:gd name="adj" fmla="val 5000"/>
            </a:avLst>
          </a:prstGeom>
          <a:solidFill>
            <a:srgbClr val="E8EEFB"/>
          </a:solidFill>
          <a:ln>
            <a:noFill/>
          </a:ln>
        </p:spPr>
        <p:txBody>
          <a:bodyPr wrap="square" lIns="73152" tIns="58521" rIns="73152" bIns="58521" rtlCol="0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sz="1900" b="1" i="0">
                <a:solidFill>
                  <a:srgbClr val="1F4E9E"/>
                </a:solidFill>
                <a:latin typeface="Calibri"/>
              </a:rPr>
              <a:t>Real-time tracking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4846320"/>
            <a:ext cx="2468880" cy="822960"/>
          </a:xfrm>
          <a:prstGeom prst="roundRect">
            <a:avLst>
              <a:gd name="adj" fmla="val 5000"/>
            </a:avLst>
          </a:prstGeom>
          <a:solidFill>
            <a:srgbClr val="E6F5F1"/>
          </a:solidFill>
          <a:ln>
            <a:noFill/>
          </a:ln>
        </p:spPr>
        <p:txBody>
          <a:bodyPr wrap="square" lIns="73152" tIns="58521" rIns="73152" bIns="58521" rtlCol="0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sz="1900" b="1" i="0">
                <a:solidFill>
                  <a:srgbClr val="0F8F7A"/>
                </a:solidFill>
                <a:latin typeface="Calibri"/>
              </a:rPr>
              <a:t>Shortage alerts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88552" y="4846320"/>
            <a:ext cx="2468880" cy="822960"/>
          </a:xfrm>
          <a:prstGeom prst="roundRect">
            <a:avLst>
              <a:gd name="adj" fmla="val 5000"/>
            </a:avLst>
          </a:prstGeom>
          <a:solidFill>
            <a:srgbClr val="FFF3DC"/>
          </a:solidFill>
          <a:ln>
            <a:noFill/>
          </a:ln>
        </p:spPr>
        <p:txBody>
          <a:bodyPr wrap="square" lIns="73152" tIns="58521" rIns="73152" bIns="58521" rtlCol="0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sz="1900" b="1" i="0">
                <a:solidFill>
                  <a:srgbClr val="C77700"/>
                </a:solidFill>
                <a:latin typeface="Calibri"/>
              </a:rPr>
              <a:t>Reports &amp; analytics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1520" y="365760"/>
            <a:ext cx="10725912" cy="6949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0" dirty="0"/>
              <a:t>Risks and Gap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1844CD1-F59C-0792-D85E-23EBE09D966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463040"/>
          <a:ext cx="10725912" cy="3246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68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2150" b="1" i="0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2150" b="1" i="0">
                          <a:solidFill>
                            <a:srgbClr val="FFFFFF"/>
                          </a:solidFill>
                          <a:latin typeface="Calibri"/>
                        </a:rPr>
                        <a:t>Proposed solution</a:t>
                      </a:r>
                    </a:p>
                  </a:txBody>
                  <a:tcPr marT="27432" marB="27432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2150" b="1" i="0">
                          <a:solidFill>
                            <a:srgbClr val="C00000"/>
                          </a:solidFill>
                          <a:latin typeface="Calibri"/>
                        </a:rPr>
                        <a:t>Proxy attendance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2150" b="0" i="0">
                          <a:solidFill>
                            <a:srgbClr val="262626"/>
                          </a:solidFill>
                          <a:latin typeface="Calibri"/>
                        </a:rPr>
                        <a:t>Dynamic QR codes that expire quickly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2150" b="1" i="0">
                          <a:solidFill>
                            <a:srgbClr val="C00000"/>
                          </a:solidFill>
                          <a:latin typeface="Calibri"/>
                        </a:rPr>
                        <a:t>Poor internet</a:t>
                      </a:r>
                    </a:p>
                  </a:txBody>
                  <a:tcPr marT="27432" marB="27432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2150" b="0" i="0">
                          <a:solidFill>
                            <a:srgbClr val="262626"/>
                          </a:solidFill>
                          <a:latin typeface="Calibri"/>
                        </a:rPr>
                        <a:t>Offline mode that syncs later</a:t>
                      </a:r>
                    </a:p>
                  </a:txBody>
                  <a:tcPr marT="27432" marB="27432" anchor="ctr"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2150" b="1" i="0">
                          <a:solidFill>
                            <a:srgbClr val="C00000"/>
                          </a:solidFill>
                          <a:latin typeface="Calibri"/>
                        </a:rPr>
                        <a:t>Data privacy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2150" b="0" i="0">
                          <a:solidFill>
                            <a:srgbClr val="262626"/>
                          </a:solidFill>
                          <a:latin typeface="Calibri"/>
                        </a:rPr>
                        <a:t>Secure login and role-based access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2150" b="1" i="0">
                          <a:solidFill>
                            <a:srgbClr val="C00000"/>
                          </a:solidFill>
                          <a:latin typeface="Calibri"/>
                        </a:rPr>
                        <a:t>No smartphone</a:t>
                      </a:r>
                    </a:p>
                  </a:txBody>
                  <a:tcPr marT="27432" marB="27432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2150" b="0" i="0">
                          <a:solidFill>
                            <a:srgbClr val="262626"/>
                          </a:solidFill>
                          <a:latin typeface="Calibri"/>
                        </a:rPr>
                        <a:t>Teacher can mark attendance manually</a:t>
                      </a:r>
                    </a:p>
                  </a:txBody>
                  <a:tcPr marT="27432" marB="27432" anchor="ctr"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4892040"/>
            <a:ext cx="10725912" cy="914400"/>
          </a:xfrm>
          <a:prstGeom prst="roundRect">
            <a:avLst>
              <a:gd name="adj" fmla="val 5000"/>
            </a:avLst>
          </a:prstGeom>
          <a:solidFill>
            <a:srgbClr val="C00000"/>
          </a:solidFill>
          <a:ln>
            <a:noFill/>
          </a:ln>
        </p:spPr>
        <p:txBody>
          <a:bodyPr wrap="square" lIns="228600" tIns="182880" rIns="228600" bIns="182880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sz="2050" b="1" i="0">
                <a:solidFill>
                  <a:srgbClr val="FFFFFF"/>
                </a:solidFill>
                <a:latin typeface="Calibri"/>
              </a:rPr>
              <a:t>Note:  </a:t>
            </a:r>
            <a:r>
              <a:rPr sz="2050" b="0" i="0">
                <a:solidFill>
                  <a:srgbClr val="FFFFFF"/>
                </a:solidFill>
                <a:latin typeface="Calibri"/>
              </a:rPr>
              <a:t>Dynamic QR codes reduce proxy attendance but cannot fully prevent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1520" y="365760"/>
            <a:ext cx="10725912" cy="6949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5" dirty="0"/>
              <a:t>Concept/Idea/Prototype/Product/Solution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92EDACC-CD19-7A71-8718-2D25053A38A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725912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850" b="0" i="0">
                <a:solidFill>
                  <a:srgbClr val="595959"/>
                </a:solidFill>
                <a:latin typeface="Calibri"/>
              </a:rPr>
              <a:t>Teachers generate a time-limited QR code; students scan it; attendance is saved and analysed automatically.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2011680" cy="1737360"/>
          </a:xfrm>
          <a:prstGeom prst="roundRect">
            <a:avLst>
              <a:gd name="adj" fmla="val 5000"/>
            </a:avLst>
          </a:prstGeom>
          <a:solidFill>
            <a:srgbClr val="FDECEC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68680" y="2121408"/>
            <a:ext cx="502920" cy="50292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endParaRPr/>
          </a:p>
        </p:txBody>
      </p:sp>
      <p:pic>
        <p:nvPicPr>
          <p:cNvPr id="10" name="Picture 9" descr="u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410" y="2247138"/>
            <a:ext cx="251460" cy="2514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63040" y="2121408"/>
            <a:ext cx="123444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595959"/>
                </a:solidFill>
                <a:latin typeface="Calibr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2011680" cy="365760"/>
          </a:xfrm>
          <a:prstGeom prst="rect">
            <a:avLst/>
          </a:prstGeom>
          <a:noFill/>
        </p:spPr>
        <p:txBody>
          <a:bodyPr wrap="square" lIns="137160" tIns="109728" rIns="137160" bIns="109728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sz="1850" b="1" i="0">
                <a:solidFill>
                  <a:srgbClr val="C00000"/>
                </a:solidFill>
                <a:latin typeface="Calibri"/>
              </a:rPr>
              <a:t>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63240"/>
            <a:ext cx="2011680" cy="640080"/>
          </a:xfrm>
          <a:prstGeom prst="rect">
            <a:avLst/>
          </a:prstGeom>
          <a:noFill/>
        </p:spPr>
        <p:txBody>
          <a:bodyPr wrap="square" lIns="137160" tIns="109728" rIns="137160" bIns="109728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262626"/>
                </a:solidFill>
                <a:latin typeface="Calibri"/>
              </a:rPr>
              <a:t>Teacher selects class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10078" y="2011680"/>
            <a:ext cx="2011680" cy="1737360"/>
          </a:xfrm>
          <a:prstGeom prst="roundRect">
            <a:avLst>
              <a:gd name="adj" fmla="val 5000"/>
            </a:avLst>
          </a:prstGeom>
          <a:solidFill>
            <a:srgbClr val="E8EEFB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047238" y="2121408"/>
            <a:ext cx="502920" cy="502920"/>
          </a:xfrm>
          <a:prstGeom prst="ellipse">
            <a:avLst/>
          </a:prstGeom>
          <a:solidFill>
            <a:srgbClr val="1F4E9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endParaRPr/>
          </a:p>
        </p:txBody>
      </p:sp>
      <p:pic>
        <p:nvPicPr>
          <p:cNvPr id="16" name="Picture 15" descr="qr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2968" y="2247138"/>
            <a:ext cx="251460" cy="2514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641598" y="2121408"/>
            <a:ext cx="123444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595959"/>
                </a:solidFill>
                <a:latin typeface="Calibri"/>
              </a:rPr>
              <a:t>Step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10078" y="2697480"/>
            <a:ext cx="2011680" cy="365760"/>
          </a:xfrm>
          <a:prstGeom prst="rect">
            <a:avLst/>
          </a:prstGeom>
          <a:noFill/>
        </p:spPr>
        <p:txBody>
          <a:bodyPr wrap="square" lIns="137160" tIns="109728" rIns="137160" bIns="109728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sz="1850" b="1" i="0">
                <a:solidFill>
                  <a:srgbClr val="1F4E9E"/>
                </a:solidFill>
                <a:latin typeface="Calibri"/>
              </a:rPr>
              <a:t>QR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10078" y="3063240"/>
            <a:ext cx="2011680" cy="640080"/>
          </a:xfrm>
          <a:prstGeom prst="rect">
            <a:avLst/>
          </a:prstGeom>
          <a:noFill/>
        </p:spPr>
        <p:txBody>
          <a:bodyPr wrap="square" lIns="137160" tIns="109728" rIns="137160" bIns="109728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262626"/>
                </a:solidFill>
                <a:latin typeface="Calibri"/>
              </a:rPr>
              <a:t>Time-limited code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88636" y="2011680"/>
            <a:ext cx="2011680" cy="1737360"/>
          </a:xfrm>
          <a:prstGeom prst="roundRect">
            <a:avLst>
              <a:gd name="adj" fmla="val 5000"/>
            </a:avLst>
          </a:prstGeom>
          <a:solidFill>
            <a:srgbClr val="E6F5F1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225796" y="2121408"/>
            <a:ext cx="502920" cy="502920"/>
          </a:xfrm>
          <a:prstGeom prst="ellipse">
            <a:avLst/>
          </a:prstGeom>
          <a:solidFill>
            <a:srgbClr val="0F8F7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endParaRPr/>
          </a:p>
        </p:txBody>
      </p:sp>
      <p:pic>
        <p:nvPicPr>
          <p:cNvPr id="22" name="Picture 21" descr="mobi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1526" y="2247138"/>
            <a:ext cx="251460" cy="2514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820156" y="2121408"/>
            <a:ext cx="123444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595959"/>
                </a:solidFill>
                <a:latin typeface="Calibri"/>
              </a:rPr>
              <a:t>Step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88636" y="2697480"/>
            <a:ext cx="2011680" cy="365760"/>
          </a:xfrm>
          <a:prstGeom prst="rect">
            <a:avLst/>
          </a:prstGeom>
          <a:noFill/>
        </p:spPr>
        <p:txBody>
          <a:bodyPr wrap="square" lIns="137160" tIns="109728" rIns="137160" bIns="109728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sz="1850" b="1" i="0">
                <a:solidFill>
                  <a:srgbClr val="0F8F7A"/>
                </a:solidFill>
                <a:latin typeface="Calibri"/>
              </a:rPr>
              <a:t>Scan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8636" y="3063240"/>
            <a:ext cx="2011680" cy="640080"/>
          </a:xfrm>
          <a:prstGeom prst="rect">
            <a:avLst/>
          </a:prstGeom>
          <a:noFill/>
        </p:spPr>
        <p:txBody>
          <a:bodyPr wrap="square" lIns="137160" tIns="109728" rIns="137160" bIns="109728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262626"/>
                </a:solidFill>
                <a:latin typeface="Calibri"/>
              </a:rPr>
              <a:t>Students scan it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67194" y="2011680"/>
            <a:ext cx="2011680" cy="1737360"/>
          </a:xfrm>
          <a:prstGeom prst="roundRect">
            <a:avLst>
              <a:gd name="adj" fmla="val 5000"/>
            </a:avLst>
          </a:prstGeom>
          <a:solidFill>
            <a:srgbClr val="FFF3DC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404354" y="2121408"/>
            <a:ext cx="502920" cy="502920"/>
          </a:xfrm>
          <a:prstGeom prst="ellipse">
            <a:avLst/>
          </a:prstGeom>
          <a:solidFill>
            <a:srgbClr val="C777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endParaRPr/>
          </a:p>
        </p:txBody>
      </p:sp>
      <p:pic>
        <p:nvPicPr>
          <p:cNvPr id="28" name="Picture 27" descr="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0083" y="2247138"/>
            <a:ext cx="251460" cy="25146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998714" y="2121408"/>
            <a:ext cx="123444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595959"/>
                </a:solidFill>
                <a:latin typeface="Calibri"/>
              </a:rPr>
              <a:t>Step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7194" y="2697480"/>
            <a:ext cx="2011680" cy="365760"/>
          </a:xfrm>
          <a:prstGeom prst="rect">
            <a:avLst/>
          </a:prstGeom>
          <a:noFill/>
        </p:spPr>
        <p:txBody>
          <a:bodyPr wrap="square" lIns="137160" tIns="109728" rIns="137160" bIns="109728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sz="1850" b="1" i="0">
                <a:solidFill>
                  <a:srgbClr val="C77700"/>
                </a:solidFill>
                <a:latin typeface="Calibri"/>
              </a:rPr>
              <a:t>Verify &amp; Store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7194" y="3063240"/>
            <a:ext cx="2011680" cy="640080"/>
          </a:xfrm>
          <a:prstGeom prst="rect">
            <a:avLst/>
          </a:prstGeom>
          <a:noFill/>
        </p:spPr>
        <p:txBody>
          <a:bodyPr wrap="square" lIns="137160" tIns="109728" rIns="137160" bIns="109728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262626"/>
                </a:solidFill>
                <a:latin typeface="Calibri"/>
              </a:rPr>
              <a:t>Identity checked, saved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45752" y="2011680"/>
            <a:ext cx="2011680" cy="1737360"/>
          </a:xfrm>
          <a:prstGeom prst="roundRect">
            <a:avLst>
              <a:gd name="adj" fmla="val 5000"/>
            </a:avLst>
          </a:prstGeom>
          <a:solidFill>
            <a:srgbClr val="FDECEC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582912" y="2121408"/>
            <a:ext cx="502920" cy="50292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endParaRPr/>
          </a:p>
        </p:txBody>
      </p:sp>
      <p:pic>
        <p:nvPicPr>
          <p:cNvPr id="34" name="Picture 33" descr="chartb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08642" y="2247138"/>
            <a:ext cx="251460" cy="25146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177272" y="2121408"/>
            <a:ext cx="123444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sz="1500" b="0" i="0">
                <a:solidFill>
                  <a:srgbClr val="595959"/>
                </a:solidFill>
                <a:latin typeface="Calibri"/>
              </a:rPr>
              <a:t>Step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45752" y="2697480"/>
            <a:ext cx="2011680" cy="365760"/>
          </a:xfrm>
          <a:prstGeom prst="rect">
            <a:avLst/>
          </a:prstGeom>
          <a:noFill/>
        </p:spPr>
        <p:txBody>
          <a:bodyPr wrap="square" lIns="137160" tIns="109728" rIns="137160" bIns="109728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sz="1850" b="1" i="0">
                <a:solidFill>
                  <a:srgbClr val="C00000"/>
                </a:solidFill>
                <a:latin typeface="Calibri"/>
              </a:rPr>
              <a:t>Analyse &amp; Alert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45752" y="3063240"/>
            <a:ext cx="2011680" cy="640080"/>
          </a:xfrm>
          <a:prstGeom prst="rect">
            <a:avLst/>
          </a:prstGeom>
          <a:noFill/>
        </p:spPr>
        <p:txBody>
          <a:bodyPr wrap="square" lIns="137160" tIns="109728" rIns="137160" bIns="109728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262626"/>
                </a:solidFill>
                <a:latin typeface="Calibri"/>
              </a:rPr>
              <a:t>Reports and alerts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4023360"/>
            <a:ext cx="6675120" cy="2011680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1520" y="4069080"/>
            <a:ext cx="6675120" cy="411480"/>
          </a:xfrm>
          <a:prstGeom prst="rect">
            <a:avLst/>
          </a:prstGeom>
          <a:noFill/>
        </p:spPr>
        <p:txBody>
          <a:bodyPr wrap="square" lIns="182880" tIns="146304" rIns="182880" bIns="146304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2050" b="1" i="0">
                <a:solidFill>
                  <a:srgbClr val="C00000"/>
                </a:solidFill>
                <a:latin typeface="Calibri"/>
              </a:rPr>
              <a:t>Key Features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526280"/>
            <a:ext cx="3337560" cy="1463040"/>
          </a:xfrm>
          <a:prstGeom prst="rect">
            <a:avLst/>
          </a:prstGeom>
          <a:noFill/>
        </p:spPr>
        <p:txBody>
          <a:bodyPr wrap="square" lIns="182880" tIns="146304" rIns="182880" bIns="146304" anchor="t">
            <a:noAutofit/>
          </a:bodyPr>
          <a:lstStyle/>
          <a:p>
            <a:pPr marL="182880" indent="-182880" algn="l">
              <a:spcAft>
                <a:spcPts val="800"/>
              </a:spcAft>
              <a:buClr>
                <a:srgbClr val="C00000"/>
              </a:buClr>
              <a:buChar char="•"/>
            </a:pPr>
            <a:r>
              <a:rPr sz="1850" b="0" i="0">
                <a:solidFill>
                  <a:srgbClr val="262626"/>
                </a:solidFill>
                <a:latin typeface="Calibri"/>
              </a:rPr>
              <a:t>Dynamic QR codes</a:t>
            </a:r>
          </a:p>
          <a:p>
            <a:pPr marL="182880" indent="-182880" algn="l">
              <a:spcAft>
                <a:spcPts val="800"/>
              </a:spcAft>
              <a:buClr>
                <a:srgbClr val="C00000"/>
              </a:buClr>
              <a:buChar char="•"/>
            </a:pPr>
            <a:r>
              <a:rPr sz="1850" b="0" i="0">
                <a:solidFill>
                  <a:srgbClr val="262626"/>
                </a:solidFill>
                <a:latin typeface="Calibri"/>
              </a:rPr>
              <a:t>Real-time attendance 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77639" y="4526280"/>
            <a:ext cx="3337560" cy="1463040"/>
          </a:xfrm>
          <a:prstGeom prst="rect">
            <a:avLst/>
          </a:prstGeom>
          <a:noFill/>
        </p:spPr>
        <p:txBody>
          <a:bodyPr wrap="square" lIns="182880" tIns="146304" rIns="182880" bIns="146304" anchor="t">
            <a:noAutofit/>
          </a:bodyPr>
          <a:lstStyle/>
          <a:p>
            <a:pPr marL="182880" indent="-182880" algn="l">
              <a:spcAft>
                <a:spcPts val="800"/>
              </a:spcAft>
              <a:buClr>
                <a:srgbClr val="C00000"/>
              </a:buClr>
              <a:buChar char="•"/>
            </a:pPr>
            <a:r>
              <a:rPr sz="1850" b="0" i="0">
                <a:solidFill>
                  <a:srgbClr val="262626"/>
                </a:solidFill>
                <a:latin typeface="Calibri"/>
              </a:rPr>
              <a:t>Low attendance alerts</a:t>
            </a:r>
          </a:p>
          <a:p>
            <a:pPr marL="182880" indent="-182880" algn="l">
              <a:spcAft>
                <a:spcPts val="800"/>
              </a:spcAft>
              <a:buClr>
                <a:srgbClr val="C00000"/>
              </a:buClr>
              <a:buChar char="•"/>
            </a:pPr>
            <a:r>
              <a:rPr sz="1850" b="0" i="0">
                <a:solidFill>
                  <a:srgbClr val="262626"/>
                </a:solidFill>
                <a:latin typeface="Calibri"/>
              </a:rPr>
              <a:t>Reports &amp; dashboards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89520" y="4023360"/>
            <a:ext cx="3867912" cy="2011680"/>
          </a:xfrm>
          <a:prstGeom prst="roundRect">
            <a:avLst>
              <a:gd name="adj" fmla="val 5000"/>
            </a:avLst>
          </a:prstGeom>
          <a:solidFill>
            <a:srgbClr val="C00000"/>
          </a:solidFill>
          <a:ln>
            <a:noFill/>
          </a:ln>
        </p:spPr>
        <p:txBody>
          <a:bodyPr wrap="square" lIns="228600" tIns="182880" rIns="228600" bIns="182880" rtlCol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2050" b="1" i="0">
                <a:solidFill>
                  <a:srgbClr val="FFFFFF"/>
                </a:solidFill>
                <a:latin typeface="Calibri"/>
              </a:rPr>
              <a:t>Technology</a:t>
            </a:r>
          </a:p>
          <a:p>
            <a:pPr algn="l">
              <a:spcAft>
                <a:spcPts val="400"/>
              </a:spcAft>
            </a:pPr>
            <a:r>
              <a:rPr sz="1850" b="1" i="0">
                <a:solidFill>
                  <a:srgbClr val="FFFFFF"/>
                </a:solidFill>
                <a:latin typeface="Calibri"/>
              </a:rPr>
              <a:t>Frontend: </a:t>
            </a:r>
            <a:r>
              <a:rPr sz="1850" b="0" i="0">
                <a:solidFill>
                  <a:srgbClr val="FFFFFF"/>
                </a:solidFill>
                <a:latin typeface="Calibri"/>
              </a:rPr>
              <a:t>React / Flutter</a:t>
            </a:r>
          </a:p>
          <a:p>
            <a:pPr algn="l">
              <a:spcAft>
                <a:spcPts val="400"/>
              </a:spcAft>
            </a:pPr>
            <a:r>
              <a:rPr sz="1850" b="1" i="0">
                <a:solidFill>
                  <a:srgbClr val="FFFFFF"/>
                </a:solidFill>
                <a:latin typeface="Calibri"/>
              </a:rPr>
              <a:t>Backend: </a:t>
            </a:r>
            <a:r>
              <a:rPr sz="1850" b="0" i="0">
                <a:solidFill>
                  <a:srgbClr val="FFFFFF"/>
                </a:solidFill>
                <a:latin typeface="Calibri"/>
              </a:rPr>
              <a:t>Node.js</a:t>
            </a:r>
          </a:p>
          <a:p>
            <a:pPr algn="l">
              <a:spcAft>
                <a:spcPts val="300"/>
              </a:spcAft>
            </a:pPr>
            <a:r>
              <a:rPr sz="1850" b="1" i="0">
                <a:solidFill>
                  <a:srgbClr val="FFFFFF"/>
                </a:solidFill>
                <a:latin typeface="Calibri"/>
              </a:rPr>
              <a:t>Database: </a:t>
            </a:r>
            <a:r>
              <a:rPr sz="1850" b="0" i="0">
                <a:solidFill>
                  <a:srgbClr val="FFFFFF"/>
                </a:solidFill>
                <a:latin typeface="Calibri"/>
              </a:rPr>
              <a:t>Secure DB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1520" y="365760"/>
            <a:ext cx="10725912" cy="6949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5" dirty="0"/>
              <a:t>Images/Storyboard/Architecture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D93B669-77C1-4A0C-A98C-738A11D7E6FC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1828800" cy="822960"/>
          </a:xfrm>
          <a:prstGeom prst="roundRect">
            <a:avLst>
              <a:gd name="adj" fmla="val 5000"/>
            </a:avLst>
          </a:prstGeom>
          <a:solidFill>
            <a:srgbClr val="C00000"/>
          </a:solidFill>
          <a:ln>
            <a:noFill/>
          </a:ln>
        </p:spPr>
        <p:txBody>
          <a:bodyPr wrap="square" lIns="54864" tIns="43891" rIns="54864" bIns="43891" rtlCol="0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sz="1850" b="1" i="0">
                <a:solidFill>
                  <a:srgbClr val="FFFFFF"/>
                </a:solidFill>
                <a:latin typeface="Calibri"/>
              </a:rPr>
              <a:t>Student Identity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15184" y="1719072"/>
            <a:ext cx="285750" cy="219456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955798" y="1417320"/>
            <a:ext cx="1828800" cy="822960"/>
          </a:xfrm>
          <a:prstGeom prst="roundRect">
            <a:avLst>
              <a:gd name="adj" fmla="val 5000"/>
            </a:avLst>
          </a:prstGeom>
          <a:solidFill>
            <a:srgbClr val="1F4E9E"/>
          </a:solidFill>
          <a:ln>
            <a:noFill/>
          </a:ln>
        </p:spPr>
        <p:txBody>
          <a:bodyPr wrap="square" lIns="54864" tIns="43891" rIns="54864" bIns="43891" rtlCol="0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sz="1850" b="1" i="0">
                <a:solidFill>
                  <a:srgbClr val="FFFFFF"/>
                </a:solidFill>
                <a:latin typeface="Calibri"/>
              </a:rPr>
              <a:t>QR Scan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39462" y="1719072"/>
            <a:ext cx="285750" cy="219456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180076" y="1417320"/>
            <a:ext cx="1828800" cy="822960"/>
          </a:xfrm>
          <a:prstGeom prst="roundRect">
            <a:avLst>
              <a:gd name="adj" fmla="val 5000"/>
            </a:avLst>
          </a:prstGeom>
          <a:solidFill>
            <a:srgbClr val="0F8F7A"/>
          </a:solidFill>
          <a:ln>
            <a:noFill/>
          </a:ln>
        </p:spPr>
        <p:txBody>
          <a:bodyPr wrap="square" lIns="54864" tIns="43891" rIns="54864" bIns="43891" rtlCol="0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sz="1850" b="1" i="0">
                <a:solidFill>
                  <a:srgbClr val="FFFFFF"/>
                </a:solidFill>
                <a:latin typeface="Calibri"/>
              </a:rPr>
              <a:t>Verification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063740" y="1719072"/>
            <a:ext cx="285750" cy="219456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404354" y="1417320"/>
            <a:ext cx="1828800" cy="822960"/>
          </a:xfrm>
          <a:prstGeom prst="roundRect">
            <a:avLst>
              <a:gd name="adj" fmla="val 5000"/>
            </a:avLst>
          </a:prstGeom>
          <a:solidFill>
            <a:srgbClr val="C77700"/>
          </a:solidFill>
          <a:ln>
            <a:noFill/>
          </a:ln>
        </p:spPr>
        <p:txBody>
          <a:bodyPr wrap="square" lIns="54864" tIns="43891" rIns="54864" bIns="43891" rtlCol="0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sz="1850" b="1" i="0">
                <a:solidFill>
                  <a:srgbClr val="FFFFFF"/>
                </a:solidFill>
                <a:latin typeface="Calibri"/>
              </a:rPr>
              <a:t>Secure Database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288018" y="1719072"/>
            <a:ext cx="285750" cy="219456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628632" y="1417320"/>
            <a:ext cx="1828800" cy="822960"/>
          </a:xfrm>
          <a:prstGeom prst="roundRect">
            <a:avLst>
              <a:gd name="adj" fmla="val 5000"/>
            </a:avLst>
          </a:prstGeom>
          <a:solidFill>
            <a:srgbClr val="C00000"/>
          </a:solidFill>
          <a:ln>
            <a:noFill/>
          </a:ln>
        </p:spPr>
        <p:txBody>
          <a:bodyPr wrap="square" lIns="54864" tIns="43891" rIns="54864" bIns="43891" rtlCol="0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sz="1850" b="1" i="0">
                <a:solidFill>
                  <a:srgbClr val="FFFFFF"/>
                </a:solidFill>
                <a:latin typeface="Calibri"/>
              </a:rPr>
              <a:t>Dashboard &amp; Alerts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560320"/>
            <a:ext cx="6126480" cy="3429000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>
            <a:noFill/>
          </a:ln>
        </p:spPr>
        <p:txBody>
          <a:bodyPr wrap="square" lIns="228600" tIns="182880" rIns="228600" bIns="182880" rtlCol="0" anchor="t">
            <a:noAutofit/>
          </a:bodyPr>
          <a:lstStyle/>
          <a:p>
            <a:pPr algn="l">
              <a:spcAft>
                <a:spcPts val="800"/>
              </a:spcAft>
            </a:pPr>
            <a:r>
              <a:rPr sz="2200" b="1" i="0">
                <a:solidFill>
                  <a:srgbClr val="C00000"/>
                </a:solidFill>
                <a:latin typeface="Calibri"/>
              </a:rPr>
              <a:t>Main Components</a:t>
            </a:r>
          </a:p>
          <a:p>
            <a:pPr marL="182880" indent="-182880" algn="l">
              <a:spcAft>
                <a:spcPts val="1000"/>
              </a:spcAft>
              <a:buClr>
                <a:srgbClr val="C00000"/>
              </a:buClr>
              <a:buChar char="•"/>
            </a:pPr>
            <a:r>
              <a:rPr sz="1950" b="1" i="0">
                <a:solidFill>
                  <a:srgbClr val="262626"/>
                </a:solidFill>
                <a:latin typeface="Calibri"/>
              </a:rPr>
              <a:t>Student: </a:t>
            </a:r>
            <a:r>
              <a:rPr sz="1950" b="0" i="0">
                <a:solidFill>
                  <a:srgbClr val="262626"/>
                </a:solidFill>
                <a:latin typeface="Calibri"/>
              </a:rPr>
              <a:t>log in, scan, view attendance</a:t>
            </a:r>
          </a:p>
          <a:p>
            <a:pPr marL="182880" indent="-182880" algn="l">
              <a:spcAft>
                <a:spcPts val="1000"/>
              </a:spcAft>
              <a:buClr>
                <a:srgbClr val="C00000"/>
              </a:buClr>
              <a:buChar char="•"/>
            </a:pPr>
            <a:r>
              <a:rPr sz="1950" b="1" i="0">
                <a:solidFill>
                  <a:srgbClr val="262626"/>
                </a:solidFill>
                <a:latin typeface="Calibri"/>
              </a:rPr>
              <a:t>Faculty: </a:t>
            </a:r>
            <a:r>
              <a:rPr sz="1950" b="0" i="0">
                <a:solidFill>
                  <a:srgbClr val="262626"/>
                </a:solidFill>
                <a:latin typeface="Calibri"/>
              </a:rPr>
              <a:t>create sessions and QR codes</a:t>
            </a:r>
          </a:p>
          <a:p>
            <a:pPr marL="182880" indent="-182880" algn="l">
              <a:spcAft>
                <a:spcPts val="1000"/>
              </a:spcAft>
              <a:buClr>
                <a:srgbClr val="C00000"/>
              </a:buClr>
              <a:buChar char="•"/>
            </a:pPr>
            <a:r>
              <a:rPr sz="1950" b="1" i="0">
                <a:solidFill>
                  <a:srgbClr val="262626"/>
                </a:solidFill>
                <a:latin typeface="Calibri"/>
              </a:rPr>
              <a:t>Admin: </a:t>
            </a:r>
            <a:r>
              <a:rPr sz="1950" b="0" i="0">
                <a:solidFill>
                  <a:srgbClr val="262626"/>
                </a:solidFill>
                <a:latin typeface="Calibri"/>
              </a:rPr>
              <a:t>monitor all classes</a:t>
            </a:r>
          </a:p>
          <a:p>
            <a:pPr marL="182880" indent="-182880" algn="l">
              <a:spcAft>
                <a:spcPts val="1000"/>
              </a:spcAft>
              <a:buClr>
                <a:srgbClr val="C00000"/>
              </a:buClr>
              <a:buChar char="•"/>
            </a:pPr>
            <a:r>
              <a:rPr sz="1950" b="1" i="0">
                <a:solidFill>
                  <a:srgbClr val="262626"/>
                </a:solidFill>
                <a:latin typeface="Calibri"/>
              </a:rPr>
              <a:t>Database: </a:t>
            </a:r>
            <a:r>
              <a:rPr sz="1950" b="0" i="0">
                <a:solidFill>
                  <a:srgbClr val="262626"/>
                </a:solidFill>
                <a:latin typeface="Calibri"/>
              </a:rPr>
              <a:t>stores all records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40880" y="2560320"/>
            <a:ext cx="4416552" cy="1371600"/>
          </a:xfrm>
          <a:prstGeom prst="roundRect">
            <a:avLst>
              <a:gd name="adj" fmla="val 5000"/>
            </a:avLst>
          </a:prstGeom>
          <a:solidFill>
            <a:srgbClr val="FBECEC"/>
          </a:solidFill>
          <a:ln>
            <a:noFill/>
          </a:ln>
        </p:spPr>
        <p:txBody>
          <a:bodyPr wrap="square" lIns="182880" tIns="146304" rIns="182880" bIns="146304" rtlCol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C00000"/>
                </a:solidFill>
                <a:latin typeface="Calibri"/>
              </a:rPr>
              <a:t>Attendance Calculation</a:t>
            </a:r>
          </a:p>
          <a:p>
            <a:pPr algn="l">
              <a:spcAft>
                <a:spcPts val="300"/>
              </a:spcAft>
            </a:pPr>
            <a:r>
              <a:rPr sz="2050" b="1" i="0">
                <a:solidFill>
                  <a:srgbClr val="262626"/>
                </a:solidFill>
                <a:latin typeface="Calibri"/>
              </a:rPr>
              <a:t>Attendance % = Attended ÷ Total Classes × 100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80" y="4114800"/>
            <a:ext cx="4416552" cy="548640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</p:spPr>
        <p:txBody>
          <a:bodyPr wrap="square" lIns="182880" tIns="146304" rIns="182880" bIns="146304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sz="1850" b="1" i="0">
                <a:solidFill>
                  <a:srgbClr val="FFFFFF"/>
                </a:solidFill>
                <a:latin typeface="Calibri"/>
              </a:rPr>
              <a:t>Good: 85% and above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4754880"/>
            <a:ext cx="4416552" cy="548640"/>
          </a:xfrm>
          <a:prstGeom prst="roundRect">
            <a:avLst>
              <a:gd name="adj" fmla="val 5000"/>
            </a:avLst>
          </a:prstGeom>
          <a:solidFill>
            <a:srgbClr val="B26A00"/>
          </a:solidFill>
          <a:ln>
            <a:noFill/>
          </a:ln>
        </p:spPr>
        <p:txBody>
          <a:bodyPr wrap="square" lIns="182880" tIns="146304" rIns="182880" bIns="146304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sz="1850" b="1" i="0">
                <a:solidFill>
                  <a:srgbClr val="FFFFFF"/>
                </a:solidFill>
                <a:latin typeface="Calibri"/>
              </a:rPr>
              <a:t>Monitor: 75% - 84%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5394960"/>
            <a:ext cx="4416552" cy="548640"/>
          </a:xfrm>
          <a:prstGeom prst="roundRect">
            <a:avLst>
              <a:gd name="adj" fmla="val 5000"/>
            </a:avLst>
          </a:prstGeom>
          <a:solidFill>
            <a:srgbClr val="C00000"/>
          </a:solidFill>
          <a:ln>
            <a:noFill/>
          </a:ln>
        </p:spPr>
        <p:txBody>
          <a:bodyPr wrap="square" lIns="182880" tIns="146304" rIns="182880" bIns="146304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sz="1850" b="1" i="0">
                <a:solidFill>
                  <a:srgbClr val="FFFFFF"/>
                </a:solidFill>
                <a:latin typeface="Calibri"/>
              </a:rPr>
              <a:t>Warning: below 75%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1520" y="365760"/>
            <a:ext cx="10725912" cy="6949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0" dirty="0"/>
              <a:t>Prototype Screens (Concept)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EA7CE7B1-B734-D71E-7FD3-CC0F5022A70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286000" cy="3977639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2960" y="1481328"/>
            <a:ext cx="2103120" cy="375818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554479" y="1408176"/>
            <a:ext cx="640080" cy="64008"/>
          </a:xfrm>
          <a:prstGeom prst="roundRect">
            <a:avLst>
              <a:gd name="adj" fmla="val 50000"/>
            </a:avLst>
          </a:prstGeom>
          <a:solidFill>
            <a:srgbClr val="4A5470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618488"/>
            <a:ext cx="2103120" cy="365760"/>
          </a:xfrm>
          <a:prstGeom prst="rect">
            <a:avLst/>
          </a:prstGeom>
          <a:noFill/>
        </p:spPr>
        <p:txBody>
          <a:bodyPr wrap="square" tIns="73152" bIns="73152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1F2A44"/>
                </a:solidFill>
                <a:latin typeface="Calibri"/>
              </a:rPr>
              <a:t>Attendance App</a:t>
            </a:r>
          </a:p>
        </p:txBody>
      </p:sp>
      <p:sp>
        <p:nvSpPr>
          <p:cNvPr id="11" name="Oval 10"/>
          <p:cNvSpPr/>
          <p:nvPr/>
        </p:nvSpPr>
        <p:spPr>
          <a:xfrm>
            <a:off x="1508760" y="2121408"/>
            <a:ext cx="731520" cy="73152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endParaRPr/>
          </a:p>
        </p:txBody>
      </p:sp>
      <p:pic>
        <p:nvPicPr>
          <p:cNvPr id="12" name="Picture 11" descr="gradu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39" y="2304288"/>
            <a:ext cx="365760" cy="36576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05840" y="3081528"/>
            <a:ext cx="1737360" cy="420624"/>
          </a:xfrm>
          <a:prstGeom prst="roundRect">
            <a:avLst>
              <a:gd name="adj" fmla="val 5000"/>
            </a:avLst>
          </a:prstGeom>
          <a:solidFill>
            <a:srgbClr val="EEF0F5"/>
          </a:solidFill>
          <a:ln>
            <a:noFill/>
          </a:ln>
        </p:spPr>
        <p:txBody>
          <a:bodyPr wrap="square" lIns="109728" tIns="87782" rIns="109728" bIns="87782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Roll Number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3648456"/>
            <a:ext cx="1737360" cy="420624"/>
          </a:xfrm>
          <a:prstGeom prst="roundRect">
            <a:avLst>
              <a:gd name="adj" fmla="val 5000"/>
            </a:avLst>
          </a:prstGeom>
          <a:solidFill>
            <a:srgbClr val="EEF0F5"/>
          </a:solidFill>
          <a:ln>
            <a:noFill/>
          </a:ln>
        </p:spPr>
        <p:txBody>
          <a:bodyPr wrap="square" lIns="109728" tIns="87782" rIns="109728" bIns="87782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Password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4270248"/>
            <a:ext cx="1737360" cy="457200"/>
          </a:xfrm>
          <a:prstGeom prst="roundRect">
            <a:avLst>
              <a:gd name="adj" fmla="val 5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Login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773168"/>
            <a:ext cx="2103120" cy="365760"/>
          </a:xfrm>
          <a:prstGeom prst="rect">
            <a:avLst/>
          </a:prstGeom>
          <a:noFill/>
        </p:spPr>
        <p:txBody>
          <a:bodyPr wrap="square" tIns="73152" bIns="73152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Student | Faculty | Admin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422392"/>
            <a:ext cx="2651760" cy="365760"/>
          </a:xfrm>
          <a:prstGeom prst="rect">
            <a:avLst/>
          </a:prstGeom>
          <a:noFill/>
        </p:spPr>
        <p:txBody>
          <a:bodyPr wrap="square" tIns="73152" bIns="73152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C00000"/>
                </a:solidFill>
                <a:latin typeface="Calibri"/>
              </a:rPr>
              <a:t>1. Secure Login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44824" y="1371600"/>
            <a:ext cx="2286000" cy="3977639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636264" y="1481328"/>
            <a:ext cx="2103120" cy="375818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367784" y="1408176"/>
            <a:ext cx="640080" cy="64008"/>
          </a:xfrm>
          <a:prstGeom prst="roundRect">
            <a:avLst>
              <a:gd name="adj" fmla="val 50000"/>
            </a:avLst>
          </a:prstGeom>
          <a:solidFill>
            <a:srgbClr val="4A5470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36264" y="1591056"/>
            <a:ext cx="2103120" cy="502920"/>
          </a:xfrm>
          <a:prstGeom prst="rect">
            <a:avLst/>
          </a:prstGeom>
          <a:noFill/>
        </p:spPr>
        <p:txBody>
          <a:bodyPr wrap="square" tIns="73152" bIns="73152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1F2A44"/>
                </a:solidFill>
                <a:latin typeface="Calibri"/>
              </a:rPr>
              <a:t>CSE-A · Data Structures</a:t>
            </a:r>
          </a:p>
          <a:p>
            <a:pPr algn="ctr">
              <a:spcAft>
                <a:spcPts val="300"/>
              </a:spcAft>
            </a:pPr>
            <a:r>
              <a:rPr sz="1100" b="0" i="0">
                <a:solidFill>
                  <a:srgbClr val="595959"/>
                </a:solidFill>
                <a:latin typeface="Calibri"/>
              </a:rPr>
              <a:t>Period 3 · 10:00 AM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73424" y="2167128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EEF0F5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864864" y="2258568"/>
            <a:ext cx="182880" cy="1828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047744" y="2258568"/>
            <a:ext cx="182880" cy="1828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230624" y="2258568"/>
            <a:ext cx="182880" cy="1828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779264" y="2258568"/>
            <a:ext cx="182880" cy="1828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962144" y="2258568"/>
            <a:ext cx="182880" cy="1828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145024" y="2258568"/>
            <a:ext cx="182880" cy="1828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327904" y="2258568"/>
            <a:ext cx="182880" cy="1828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864864" y="2441448"/>
            <a:ext cx="182880" cy="1828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230624" y="2441448"/>
            <a:ext cx="182880" cy="1828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96384" y="2441448"/>
            <a:ext cx="182880" cy="1828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962144" y="2441448"/>
            <a:ext cx="182880" cy="1828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327904" y="2441448"/>
            <a:ext cx="182880" cy="1828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864864" y="2624328"/>
            <a:ext cx="182880" cy="1828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047744" y="2624328"/>
            <a:ext cx="182880" cy="1828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230624" y="2624328"/>
            <a:ext cx="182880" cy="1828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596384" y="2624328"/>
            <a:ext cx="182880" cy="1828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962144" y="2624328"/>
            <a:ext cx="182880" cy="1828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145024" y="2624328"/>
            <a:ext cx="182880" cy="1828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327904" y="2624328"/>
            <a:ext cx="182880" cy="1828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596384" y="2807208"/>
            <a:ext cx="182880" cy="1828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145024" y="2807208"/>
            <a:ext cx="182880" cy="1828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327904" y="2807208"/>
            <a:ext cx="182880" cy="1828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864864" y="2990088"/>
            <a:ext cx="182880" cy="1828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4230624" y="2990088"/>
            <a:ext cx="182880" cy="1828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596384" y="2990088"/>
            <a:ext cx="182880" cy="1828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3864864" y="3172968"/>
            <a:ext cx="182880" cy="1828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4230624" y="3172968"/>
            <a:ext cx="182880" cy="1828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4413504" y="3172968"/>
            <a:ext cx="182880" cy="1828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779264" y="3172968"/>
            <a:ext cx="182880" cy="1828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3864864" y="3355848"/>
            <a:ext cx="182880" cy="1828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047744" y="3355848"/>
            <a:ext cx="182880" cy="1828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4230624" y="3355848"/>
            <a:ext cx="182880" cy="1828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413504" y="3355848"/>
            <a:ext cx="182880" cy="1828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4962144" y="3355848"/>
            <a:ext cx="182880" cy="1828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3864864" y="3538728"/>
            <a:ext cx="182880" cy="1828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4230624" y="3538728"/>
            <a:ext cx="182880" cy="1828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4413504" y="3538728"/>
            <a:ext cx="182880" cy="1828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4596384" y="3538728"/>
            <a:ext cx="182880" cy="1828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4962144" y="3538728"/>
            <a:ext cx="182880" cy="1828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5145024" y="3538728"/>
            <a:ext cx="182880" cy="1828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5327904" y="3538728"/>
            <a:ext cx="182880" cy="1828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3864864" y="3721608"/>
            <a:ext cx="182880" cy="1828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4047744" y="3721608"/>
            <a:ext cx="182880" cy="1828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4230624" y="3721608"/>
            <a:ext cx="182880" cy="1828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4413504" y="3721608"/>
            <a:ext cx="182880" cy="1828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4779264" y="3721608"/>
            <a:ext cx="182880" cy="1828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5327904" y="3721608"/>
            <a:ext cx="182880" cy="1828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636264" y="4178808"/>
            <a:ext cx="2103120" cy="365760"/>
          </a:xfrm>
          <a:prstGeom prst="rect">
            <a:avLst/>
          </a:prstGeom>
          <a:noFill/>
        </p:spPr>
        <p:txBody>
          <a:bodyPr wrap="square" tIns="73152" bIns="73152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C00000"/>
                </a:solidFill>
                <a:latin typeface="Calibri"/>
              </a:rPr>
              <a:t>Expires in 00:45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819144" y="4636008"/>
            <a:ext cx="1737360" cy="457200"/>
          </a:xfrm>
          <a:prstGeom prst="roundRect">
            <a:avLst>
              <a:gd name="adj" fmla="val 5000"/>
            </a:avLst>
          </a:prstGeom>
          <a:solidFill>
            <a:srgbClr val="1F2A4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End Session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361944" y="5422392"/>
            <a:ext cx="2651760" cy="365760"/>
          </a:xfrm>
          <a:prstGeom prst="rect">
            <a:avLst/>
          </a:prstGeom>
          <a:noFill/>
        </p:spPr>
        <p:txBody>
          <a:bodyPr wrap="square" tIns="73152" bIns="73152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1F4E9E"/>
                </a:solidFill>
                <a:latin typeface="Calibri"/>
              </a:rPr>
              <a:t>2. QR Generation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358128" y="1371600"/>
            <a:ext cx="2286000" cy="3977639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74" name="Rounded Rectangle 73"/>
          <p:cNvSpPr/>
          <p:nvPr/>
        </p:nvSpPr>
        <p:spPr>
          <a:xfrm>
            <a:off x="6449567" y="1481328"/>
            <a:ext cx="2103120" cy="375818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75" name="Rounded Rectangle 74"/>
          <p:cNvSpPr/>
          <p:nvPr/>
        </p:nvSpPr>
        <p:spPr>
          <a:xfrm>
            <a:off x="7181088" y="1408176"/>
            <a:ext cx="640080" cy="64008"/>
          </a:xfrm>
          <a:prstGeom prst="roundRect">
            <a:avLst>
              <a:gd name="adj" fmla="val 50000"/>
            </a:avLst>
          </a:prstGeom>
          <a:solidFill>
            <a:srgbClr val="4A5470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449567" y="1591056"/>
            <a:ext cx="2103120" cy="365760"/>
          </a:xfrm>
          <a:prstGeom prst="rect">
            <a:avLst/>
          </a:prstGeom>
          <a:noFill/>
        </p:spPr>
        <p:txBody>
          <a:bodyPr wrap="square" lIns="182880" tIns="146304" rIns="182880" bIns="146304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F2A44"/>
                </a:solidFill>
                <a:latin typeface="Calibri"/>
              </a:rPr>
              <a:t>Hi, Student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586728" y="2029968"/>
            <a:ext cx="1828799" cy="1097280"/>
          </a:xfrm>
          <a:prstGeom prst="roundRect">
            <a:avLst>
              <a:gd name="adj" fmla="val 5000"/>
            </a:avLst>
          </a:prstGeom>
          <a:solidFill>
            <a:srgbClr val="FFF3DC"/>
          </a:solidFill>
          <a:ln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3400" b="1" i="0">
                <a:solidFill>
                  <a:srgbClr val="C77700"/>
                </a:solidFill>
                <a:latin typeface="Calibri"/>
              </a:rPr>
              <a:t>82%</a:t>
            </a:r>
          </a:p>
          <a:p>
            <a:pPr algn="ctr">
              <a:spcAft>
                <a:spcPts val="300"/>
              </a:spcAft>
            </a:pPr>
            <a:r>
              <a:rPr sz="1200" b="0" i="0">
                <a:solidFill>
                  <a:srgbClr val="595959"/>
                </a:solidFill>
                <a:latin typeface="Calibri"/>
              </a:rPr>
              <a:t>Overall Attendance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86728" y="3355848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F2A44"/>
                </a:solidFill>
                <a:latin typeface="Calibri"/>
              </a:rPr>
              <a:t>DS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866887" y="335584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2E7D32"/>
                </a:solidFill>
                <a:latin typeface="Calibri"/>
              </a:rPr>
              <a:t>90%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586728" y="3648456"/>
            <a:ext cx="1828799" cy="128016"/>
          </a:xfrm>
          <a:prstGeom prst="roundRect">
            <a:avLst>
              <a:gd name="adj" fmla="val 50000"/>
            </a:avLst>
          </a:prstGeom>
          <a:solidFill>
            <a:srgbClr val="E1E4EE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81" name="Rounded Rectangle 80"/>
          <p:cNvSpPr/>
          <p:nvPr/>
        </p:nvSpPr>
        <p:spPr>
          <a:xfrm>
            <a:off x="6586728" y="3648456"/>
            <a:ext cx="1645919" cy="128016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586728" y="3922776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F2A44"/>
                </a:solidFill>
                <a:latin typeface="Calibri"/>
              </a:rPr>
              <a:t>DBMS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866887" y="392277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C77700"/>
                </a:solidFill>
                <a:latin typeface="Calibri"/>
              </a:rPr>
              <a:t>78%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586728" y="4215384"/>
            <a:ext cx="1828799" cy="128016"/>
          </a:xfrm>
          <a:prstGeom prst="roundRect">
            <a:avLst>
              <a:gd name="adj" fmla="val 50000"/>
            </a:avLst>
          </a:prstGeom>
          <a:solidFill>
            <a:srgbClr val="E1E4EE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85" name="Rounded Rectangle 84"/>
          <p:cNvSpPr/>
          <p:nvPr/>
        </p:nvSpPr>
        <p:spPr>
          <a:xfrm>
            <a:off x="6586728" y="4215384"/>
            <a:ext cx="1426463" cy="128016"/>
          </a:xfrm>
          <a:prstGeom prst="roundRect">
            <a:avLst>
              <a:gd name="adj" fmla="val 50000"/>
            </a:avLst>
          </a:prstGeom>
          <a:solidFill>
            <a:srgbClr val="C77700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6586728" y="448970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1F2A44"/>
                </a:solidFill>
                <a:latin typeface="Calibri"/>
              </a:rPr>
              <a:t>CN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866887" y="4489704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sz="1200" b="1" i="0">
                <a:solidFill>
                  <a:srgbClr val="C00000"/>
                </a:solidFill>
                <a:latin typeface="Calibri"/>
              </a:rPr>
              <a:t>70%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586728" y="4782312"/>
            <a:ext cx="1828799" cy="128016"/>
          </a:xfrm>
          <a:prstGeom prst="roundRect">
            <a:avLst>
              <a:gd name="adj" fmla="val 50000"/>
            </a:avLst>
          </a:prstGeom>
          <a:solidFill>
            <a:srgbClr val="E1E4EE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89" name="Rounded Rectangle 88"/>
          <p:cNvSpPr/>
          <p:nvPr/>
        </p:nvSpPr>
        <p:spPr>
          <a:xfrm>
            <a:off x="6586728" y="4782312"/>
            <a:ext cx="1280159" cy="12801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6175248" y="5422392"/>
            <a:ext cx="2651760" cy="365760"/>
          </a:xfrm>
          <a:prstGeom prst="rect">
            <a:avLst/>
          </a:prstGeom>
          <a:noFill/>
        </p:spPr>
        <p:txBody>
          <a:bodyPr wrap="square" tIns="73152" bIns="73152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0F8F7A"/>
                </a:solidFill>
                <a:latin typeface="Calibri"/>
              </a:rPr>
              <a:t>3. Attendance Dashboard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9171432" y="1371600"/>
            <a:ext cx="2286000" cy="3977639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92" name="Rounded Rectangle 91"/>
          <p:cNvSpPr/>
          <p:nvPr/>
        </p:nvSpPr>
        <p:spPr>
          <a:xfrm>
            <a:off x="9262872" y="1481328"/>
            <a:ext cx="2103120" cy="375818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93" name="Rounded Rectangle 92"/>
          <p:cNvSpPr/>
          <p:nvPr/>
        </p:nvSpPr>
        <p:spPr>
          <a:xfrm>
            <a:off x="9994392" y="1408176"/>
            <a:ext cx="640080" cy="64008"/>
          </a:xfrm>
          <a:prstGeom prst="roundRect">
            <a:avLst>
              <a:gd name="adj" fmla="val 50000"/>
            </a:avLst>
          </a:prstGeom>
          <a:solidFill>
            <a:srgbClr val="4A5470"/>
          </a:solidFill>
          <a:ln>
            <a:noFill/>
          </a:ln>
        </p:spPr>
        <p:txBody>
          <a:bodyPr wrap="square" tIns="73152" bIns="73152" rtlCol="0" anchor="t">
            <a:noAutofit/>
          </a:bodyPr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9902952" y="1801368"/>
            <a:ext cx="822960" cy="82296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endParaRPr/>
          </a:p>
        </p:txBody>
      </p:sp>
      <p:pic>
        <p:nvPicPr>
          <p:cNvPr id="95" name="Picture 94" descr="be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8692" y="2007108"/>
            <a:ext cx="411480" cy="411480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9262872" y="2761488"/>
            <a:ext cx="2103120" cy="411480"/>
          </a:xfrm>
          <a:prstGeom prst="rect">
            <a:avLst/>
          </a:prstGeom>
          <a:noFill/>
        </p:spPr>
        <p:txBody>
          <a:bodyPr wrap="square" tIns="73152" bIns="73152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C00000"/>
                </a:solidFill>
                <a:latin typeface="Calibri"/>
              </a:rPr>
              <a:t>Low Attendance Alert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9400032" y="3264408"/>
            <a:ext cx="1828799" cy="1188720"/>
          </a:xfrm>
          <a:prstGeom prst="roundRect">
            <a:avLst>
              <a:gd name="adj" fmla="val 5000"/>
            </a:avLst>
          </a:prstGeom>
          <a:solidFill>
            <a:srgbClr val="FFF3DC"/>
          </a:solidFill>
          <a:ln>
            <a:noFill/>
          </a:ln>
        </p:spPr>
        <p:txBody>
          <a:bodyPr wrap="square" lIns="109728" tIns="87782" rIns="109728" bIns="87782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62626"/>
                </a:solidFill>
                <a:latin typeface="Calibri"/>
              </a:rPr>
              <a:t>Your attendance in CN is 70%, below the 75% requirement. Attend upcoming classes.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9445752" y="4636008"/>
            <a:ext cx="1737360" cy="457200"/>
          </a:xfrm>
          <a:prstGeom prst="roundRect">
            <a:avLst>
              <a:gd name="adj" fmla="val 5000"/>
            </a:avLst>
          </a:prstGeom>
          <a:solidFill>
            <a:srgbClr val="C000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View Details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88552" y="5422392"/>
            <a:ext cx="2651760" cy="365760"/>
          </a:xfrm>
          <a:prstGeom prst="rect">
            <a:avLst/>
          </a:prstGeom>
          <a:noFill/>
        </p:spPr>
        <p:txBody>
          <a:bodyPr wrap="square" tIns="73152" bIns="73152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sz="1400" b="1" i="0">
                <a:solidFill>
                  <a:srgbClr val="C77700"/>
                </a:solidFill>
                <a:latin typeface="Calibri"/>
              </a:rPr>
              <a:t>4. Low Attendance Alert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31520" y="5852160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595959"/>
                </a:solidFill>
                <a:latin typeface="Calibri"/>
              </a:rPr>
              <a:t>Concept screens to explain the idea; the final app design may differ.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1520" y="365760"/>
            <a:ext cx="10725912" cy="6949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pc="-60" dirty="0"/>
              <a:t>Lean Canvas Model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BFB487C9-3839-22C2-01F2-1C93656AB434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072030" cy="3200400"/>
          </a:xfrm>
          <a:prstGeom prst="roundRect">
            <a:avLst>
              <a:gd name="adj" fmla="val 5000"/>
            </a:avLst>
          </a:prstGeom>
          <a:solidFill>
            <a:srgbClr val="FDECEC"/>
          </a:solidFill>
          <a:ln>
            <a:noFill/>
          </a:ln>
        </p:spPr>
        <p:txBody>
          <a:bodyPr wrap="square" lIns="109728" tIns="87782" rIns="109728" bIns="87782" rtlCol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750" b="1" i="0">
                <a:solidFill>
                  <a:srgbClr val="C00000"/>
                </a:solidFill>
                <a:latin typeface="Calibri"/>
              </a:rPr>
              <a:t>PROBLEM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Calibri"/>
              </a:rPr>
              <a:t>Manual attendance is slow and error-prone.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94990" y="1371600"/>
            <a:ext cx="2072030" cy="1554480"/>
          </a:xfrm>
          <a:prstGeom prst="roundRect">
            <a:avLst>
              <a:gd name="adj" fmla="val 5000"/>
            </a:avLst>
          </a:prstGeom>
          <a:solidFill>
            <a:srgbClr val="E8EEFB"/>
          </a:solidFill>
          <a:ln>
            <a:noFill/>
          </a:ln>
        </p:spPr>
        <p:txBody>
          <a:bodyPr wrap="square" lIns="109728" tIns="87782" rIns="109728" bIns="87782" rtlCol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750" b="1" i="0">
                <a:solidFill>
                  <a:srgbClr val="1F4E9E"/>
                </a:solidFill>
                <a:latin typeface="Calibri"/>
              </a:rPr>
              <a:t>SOLUTION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Calibri"/>
              </a:rPr>
              <a:t>Dynamic QR attendance with reports and alerts.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94990" y="3017520"/>
            <a:ext cx="2072030" cy="1554480"/>
          </a:xfrm>
          <a:prstGeom prst="roundRect">
            <a:avLst>
              <a:gd name="adj" fmla="val 5000"/>
            </a:avLst>
          </a:prstGeom>
          <a:solidFill>
            <a:srgbClr val="E8EEFB"/>
          </a:solidFill>
          <a:ln>
            <a:noFill/>
          </a:ln>
        </p:spPr>
        <p:txBody>
          <a:bodyPr wrap="square" lIns="109728" tIns="87782" rIns="109728" bIns="87782" rtlCol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750" b="1" i="0">
                <a:solidFill>
                  <a:srgbClr val="1F4E9E"/>
                </a:solidFill>
                <a:latin typeface="Calibri"/>
              </a:rPr>
              <a:t>KEY METRICS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Calibri"/>
              </a:rPr>
              <a:t>Marking time, accuracy, active users.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58460" y="1371600"/>
            <a:ext cx="2072030" cy="3200400"/>
          </a:xfrm>
          <a:prstGeom prst="roundRect">
            <a:avLst>
              <a:gd name="adj" fmla="val 5000"/>
            </a:avLst>
          </a:prstGeom>
          <a:solidFill>
            <a:srgbClr val="C00000"/>
          </a:solidFill>
          <a:ln>
            <a:noFill/>
          </a:ln>
        </p:spPr>
        <p:txBody>
          <a:bodyPr wrap="square" lIns="109728" tIns="87782" rIns="109728" bIns="87782" rtlCol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750" b="1" i="0">
                <a:solidFill>
                  <a:srgbClr val="FFFFFF"/>
                </a:solidFill>
                <a:latin typeface="Calibri"/>
              </a:rPr>
              <a:t>UNIQUE VALUE PROPOSITION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A simple, affordable attendance system with real-time analytics.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1931" y="1371600"/>
            <a:ext cx="2072030" cy="1554480"/>
          </a:xfrm>
          <a:prstGeom prst="roundRect">
            <a:avLst>
              <a:gd name="adj" fmla="val 5000"/>
            </a:avLst>
          </a:prstGeom>
          <a:solidFill>
            <a:srgbClr val="FFF3DC"/>
          </a:solidFill>
          <a:ln>
            <a:noFill/>
          </a:ln>
        </p:spPr>
        <p:txBody>
          <a:bodyPr wrap="square" lIns="109728" tIns="87782" rIns="109728" bIns="87782" rtlCol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750" b="1" i="0">
                <a:solidFill>
                  <a:srgbClr val="C77700"/>
                </a:solidFill>
                <a:latin typeface="Calibri"/>
              </a:rPr>
              <a:t>UNFAIR ADVANTAGE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Calibri"/>
              </a:rPr>
              <a:t>Marking, alerts and analytics in one system.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1931" y="3017520"/>
            <a:ext cx="2072030" cy="1554480"/>
          </a:xfrm>
          <a:prstGeom prst="roundRect">
            <a:avLst>
              <a:gd name="adj" fmla="val 5000"/>
            </a:avLst>
          </a:prstGeom>
          <a:solidFill>
            <a:srgbClr val="FFF3DC"/>
          </a:solidFill>
          <a:ln>
            <a:noFill/>
          </a:ln>
        </p:spPr>
        <p:txBody>
          <a:bodyPr wrap="square" lIns="109728" tIns="87782" rIns="109728" bIns="87782" rtlCol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750" b="1" i="0">
                <a:solidFill>
                  <a:srgbClr val="C77700"/>
                </a:solidFill>
                <a:latin typeface="Calibri"/>
              </a:rPr>
              <a:t>CHANNELS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Calibri"/>
              </a:rPr>
              <a:t>College demos and partnerships.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85401" y="1371600"/>
            <a:ext cx="2072030" cy="3200400"/>
          </a:xfrm>
          <a:prstGeom prst="roundRect">
            <a:avLst>
              <a:gd name="adj" fmla="val 5000"/>
            </a:avLst>
          </a:prstGeom>
          <a:solidFill>
            <a:srgbClr val="E6F5F1"/>
          </a:solidFill>
          <a:ln>
            <a:noFill/>
          </a:ln>
        </p:spPr>
        <p:txBody>
          <a:bodyPr wrap="square" lIns="109728" tIns="87782" rIns="109728" bIns="87782" rtlCol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750" b="1" i="0">
                <a:solidFill>
                  <a:srgbClr val="0F8F7A"/>
                </a:solidFill>
                <a:latin typeface="Calibri"/>
              </a:rPr>
              <a:t>CUSTOMER SEGMENTS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Calibri"/>
              </a:rPr>
              <a:t>Colleges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Calibri"/>
              </a:rPr>
              <a:t>Students and faculty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262626"/>
                </a:solidFill>
                <a:latin typeface="Calibri"/>
              </a:rPr>
              <a:t>Administrators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63440"/>
            <a:ext cx="5212080" cy="868680"/>
          </a:xfrm>
          <a:prstGeom prst="roundRect">
            <a:avLst>
              <a:gd name="adj" fmla="val 5000"/>
            </a:avLst>
          </a:prstGeom>
          <a:solidFill>
            <a:srgbClr val="E6F5F1"/>
          </a:solidFill>
          <a:ln>
            <a:noFill/>
          </a:ln>
        </p:spPr>
        <p:txBody>
          <a:bodyPr wrap="square" lIns="109728" tIns="87782" rIns="109728" bIns="87782" rtlCol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750" b="1" i="0">
                <a:solidFill>
                  <a:srgbClr val="0F8F7A"/>
                </a:solidFill>
                <a:latin typeface="Calibri"/>
              </a:rPr>
              <a:t>COST STRUCTURE</a:t>
            </a:r>
          </a:p>
          <a:p>
            <a:pPr algn="l">
              <a:spcAft>
                <a:spcPts val="300"/>
              </a:spcAft>
            </a:pPr>
            <a:r>
              <a:rPr sz="1750" b="0" i="0">
                <a:solidFill>
                  <a:srgbClr val="262626"/>
                </a:solidFill>
                <a:latin typeface="Calibri"/>
              </a:rPr>
              <a:t>Development, hosting, maintenance, support.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4663440"/>
            <a:ext cx="5330952" cy="868680"/>
          </a:xfrm>
          <a:prstGeom prst="roundRect">
            <a:avLst>
              <a:gd name="adj" fmla="val 5000"/>
            </a:avLst>
          </a:prstGeom>
          <a:solidFill>
            <a:srgbClr val="FFF3DC"/>
          </a:solidFill>
          <a:ln>
            <a:noFill/>
          </a:ln>
        </p:spPr>
        <p:txBody>
          <a:bodyPr wrap="square" lIns="109728" tIns="87782" rIns="109728" bIns="87782" rtlCol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750" b="1" i="0">
                <a:solidFill>
                  <a:srgbClr val="C77700"/>
                </a:solidFill>
                <a:latin typeface="Calibri"/>
              </a:rPr>
              <a:t>REVENUE STREAMS</a:t>
            </a:r>
          </a:p>
          <a:p>
            <a:pPr algn="l">
              <a:spcAft>
                <a:spcPts val="300"/>
              </a:spcAft>
            </a:pPr>
            <a:r>
              <a:rPr sz="1750" b="0" i="0">
                <a:solidFill>
                  <a:srgbClr val="262626"/>
                </a:solidFill>
                <a:latin typeface="Calibri"/>
              </a:rPr>
              <a:t>College subscriptions and annual licenses.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623560"/>
            <a:ext cx="1072591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600" b="0" i="1">
                <a:solidFill>
                  <a:srgbClr val="595959"/>
                </a:solidFill>
                <a:latin typeface="Calibri"/>
              </a:rPr>
              <a:t>Proposed business model; not an existing business.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1520" y="365760"/>
            <a:ext cx="10725912" cy="6949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65" dirty="0"/>
              <a:t>Capital (Financial)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4248BDDA-C048-8531-B229-A919C2BFDFF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71600"/>
          <a:ext cx="6126480" cy="30723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950" b="1" i="0">
                          <a:solidFill>
                            <a:srgbClr val="FFFFFF"/>
                          </a:solidFill>
                          <a:latin typeface="Calibri"/>
                        </a:rPr>
                        <a:t>Requirement</a:t>
                      </a:r>
                    </a:p>
                  </a:txBody>
                  <a:tcPr marT="27432" marB="27432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950" b="1" i="0">
                          <a:solidFill>
                            <a:srgbClr val="FFFFFF"/>
                          </a:solidFill>
                          <a:latin typeface="Calibri"/>
                        </a:rPr>
                        <a:t>Estimated Cost</a:t>
                      </a:r>
                    </a:p>
                  </a:txBody>
                  <a:tcPr marT="27432" marB="27432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950" b="0" i="0">
                          <a:solidFill>
                            <a:srgbClr val="262626"/>
                          </a:solidFill>
                          <a:latin typeface="Calibri"/>
                        </a:rPr>
                        <a:t>Design &amp; development tools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950" b="0" i="0">
                          <a:solidFill>
                            <a:srgbClr val="262626"/>
                          </a:solidFill>
                          <a:latin typeface="Calibri"/>
                        </a:rPr>
                        <a:t>₹0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950" b="0" i="0">
                          <a:solidFill>
                            <a:srgbClr val="262626"/>
                          </a:solidFill>
                          <a:latin typeface="Calibri"/>
                        </a:rPr>
                        <a:t>QR code generation</a:t>
                      </a:r>
                    </a:p>
                  </a:txBody>
                  <a:tcPr marT="27432" marB="27432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950" b="0" i="0">
                          <a:solidFill>
                            <a:srgbClr val="262626"/>
                          </a:solidFill>
                          <a:latin typeface="Calibri"/>
                        </a:rPr>
                        <a:t>₹0</a:t>
                      </a:r>
                    </a:p>
                  </a:txBody>
                  <a:tcPr marT="27432" marB="27432" anchor="ctr"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950" b="0" i="0">
                          <a:solidFill>
                            <a:srgbClr val="262626"/>
                          </a:solidFill>
                          <a:latin typeface="Calibri"/>
                        </a:rPr>
                        <a:t>Free-tier cloud hosting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950" b="0" i="0">
                          <a:solidFill>
                            <a:srgbClr val="262626"/>
                          </a:solidFill>
                          <a:latin typeface="Calibri"/>
                        </a:rPr>
                        <a:t>₹0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950" b="0" i="0">
                          <a:solidFill>
                            <a:srgbClr val="262626"/>
                          </a:solidFill>
                          <a:latin typeface="Calibri"/>
                        </a:rPr>
                        <a:t>Testing &amp; miscellaneous</a:t>
                      </a:r>
                    </a:p>
                  </a:txBody>
                  <a:tcPr marT="27432" marB="27432" anchor="ctr"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950" b="0" i="0">
                          <a:solidFill>
                            <a:srgbClr val="262626"/>
                          </a:solidFill>
                          <a:latin typeface="Calibri"/>
                        </a:rPr>
                        <a:t>₹1,000</a:t>
                      </a:r>
                    </a:p>
                  </a:txBody>
                  <a:tcPr marT="27432" marB="27432" anchor="ctr"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950" b="0" i="0">
                          <a:solidFill>
                            <a:srgbClr val="262626"/>
                          </a:solidFill>
                          <a:latin typeface="Calibri"/>
                        </a:rPr>
                        <a:t>Optional deployment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950" b="0" i="0">
                          <a:solidFill>
                            <a:srgbClr val="262626"/>
                          </a:solidFill>
                          <a:latin typeface="Calibri"/>
                        </a:rPr>
                        <a:t>₹1,500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950" b="1" i="0">
                          <a:solidFill>
                            <a:srgbClr val="C00000"/>
                          </a:solidFill>
                          <a:latin typeface="Calibri"/>
                        </a:rPr>
                        <a:t>Total Estimated Budget</a:t>
                      </a:r>
                    </a:p>
                  </a:txBody>
                  <a:tcPr marT="27432" marB="27432" anchor="ctr">
                    <a:solidFill>
                      <a:srgbClr val="FB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950" b="1" i="0">
                          <a:solidFill>
                            <a:srgbClr val="C00000"/>
                          </a:solidFill>
                          <a:latin typeface="Calibri"/>
                        </a:rPr>
                        <a:t>₹2,500</a:t>
                      </a:r>
                    </a:p>
                  </a:txBody>
                  <a:tcPr marT="27432" marB="27432" anchor="ctr">
                    <a:solidFill>
                      <a:srgbClr val="FBEC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132320" y="1371600"/>
            <a:ext cx="4325112" cy="3072384"/>
          </a:xfrm>
          <a:prstGeom prst="roundRect">
            <a:avLst>
              <a:gd name="adj" fmla="val 5000"/>
            </a:avLst>
          </a:prstGeom>
          <a:solidFill>
            <a:srgbClr val="FBECEC"/>
          </a:solidFill>
          <a:ln>
            <a:noFill/>
          </a:ln>
        </p:spPr>
        <p:txBody>
          <a:bodyPr wrap="square" lIns="228600" tIns="182880" rIns="228600" bIns="182880" rtlCol="0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sz="2300" b="1" i="0">
                <a:solidFill>
                  <a:srgbClr val="C00000"/>
                </a:solidFill>
                <a:latin typeface="Calibri"/>
              </a:rPr>
              <a:t>Keep costs low</a:t>
            </a:r>
          </a:p>
          <a:p>
            <a:pPr marL="182880" indent="-182880" algn="l">
              <a:spcAft>
                <a:spcPts val="300"/>
              </a:spcAft>
              <a:buClr>
                <a:srgbClr val="C00000"/>
              </a:buClr>
              <a:buChar char="•"/>
            </a:pPr>
            <a:r>
              <a:rPr sz="1950" b="0" i="0">
                <a:solidFill>
                  <a:srgbClr val="262626"/>
                </a:solidFill>
                <a:latin typeface="Calibri"/>
              </a:rPr>
              <a:t>Free, open-source tools</a:t>
            </a:r>
          </a:p>
          <a:p>
            <a:pPr marL="182880" indent="-182880" algn="l">
              <a:spcAft>
                <a:spcPts val="300"/>
              </a:spcAft>
              <a:buClr>
                <a:srgbClr val="C00000"/>
              </a:buClr>
              <a:buChar char="•"/>
            </a:pPr>
            <a:r>
              <a:rPr sz="1950" b="0" i="0">
                <a:solidFill>
                  <a:srgbClr val="262626"/>
                </a:solidFill>
                <a:latin typeface="Calibri"/>
              </a:rPr>
              <a:t>Smartphones, not devices</a:t>
            </a:r>
          </a:p>
          <a:p>
            <a:pPr marL="182880" indent="-182880" algn="l">
              <a:spcAft>
                <a:spcPts val="300"/>
              </a:spcAft>
              <a:buClr>
                <a:srgbClr val="C00000"/>
              </a:buClr>
              <a:buChar char="•"/>
            </a:pPr>
            <a:r>
              <a:rPr sz="1950" b="0" i="0">
                <a:solidFill>
                  <a:srgbClr val="262626"/>
                </a:solidFill>
                <a:latin typeface="Calibri"/>
              </a:rPr>
              <a:t>Start with a basic 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2628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400" b="0" i="1">
                <a:solidFill>
                  <a:srgbClr val="595959"/>
                </a:solidFill>
                <a:latin typeface="Calibri"/>
              </a:rPr>
              <a:t>Illustrative planning estimates, not verified prices.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937760"/>
            <a:ext cx="4206240" cy="1097280"/>
          </a:xfrm>
          <a:prstGeom prst="roundRect">
            <a:avLst>
              <a:gd name="adj" fmla="val 5000"/>
            </a:avLst>
          </a:prstGeom>
          <a:solidFill>
            <a:srgbClr val="C00000"/>
          </a:solidFill>
          <a:ln>
            <a:noFill/>
          </a:ln>
        </p:spPr>
        <p:txBody>
          <a:bodyPr wrap="square" lIns="137160" tIns="109728" rIns="137160" bIns="109728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₹2,500</a:t>
            </a:r>
          </a:p>
          <a:p>
            <a:pPr algn="ctr">
              <a:spcAft>
                <a:spcPts val="3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Total estimated budget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4937760"/>
            <a:ext cx="6336792" cy="1097280"/>
          </a:xfrm>
          <a:prstGeom prst="roundRect">
            <a:avLst>
              <a:gd name="adj" fmla="val 5000"/>
            </a:avLst>
          </a:prstGeom>
          <a:solidFill>
            <a:srgbClr val="E6F5F1"/>
          </a:solidFill>
          <a:ln>
            <a:noFill/>
          </a:ln>
        </p:spPr>
        <p:txBody>
          <a:bodyPr wrap="square" lIns="228600" tIns="182880" rIns="228600" bIns="182880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sz="1850" b="1" i="0">
                <a:solidFill>
                  <a:srgbClr val="0F8F7A"/>
                </a:solidFill>
                <a:latin typeface="Calibri"/>
              </a:rPr>
              <a:t>Financial Goal</a:t>
            </a:r>
          </a:p>
          <a:p>
            <a:pPr algn="l">
              <a:spcAft>
                <a:spcPts val="300"/>
              </a:spcAft>
            </a:pPr>
            <a:r>
              <a:rPr sz="1950" b="0" i="0">
                <a:solidFill>
                  <a:srgbClr val="262626"/>
                </a:solidFill>
                <a:latin typeface="Calibri"/>
              </a:rPr>
              <a:t>An affordable solution that can grow in the future.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1520" y="365760"/>
            <a:ext cx="10725912" cy="6949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0" dirty="0"/>
              <a:t>Roadmap/Timeline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EA7CE7B1-B734-D71E-7FD3-CC0F5022A70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1072591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750" b="0" i="0">
                <a:solidFill>
                  <a:srgbClr val="595959"/>
                </a:solidFill>
                <a:latin typeface="Calibri"/>
              </a:rPr>
              <a:t>First working prototype in about 6 to 8 weeks.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711452" cy="731520"/>
          </a:xfrm>
          <a:prstGeom prst="roundRect">
            <a:avLst>
              <a:gd name="adj" fmla="val 5000"/>
            </a:avLst>
          </a:prstGeom>
          <a:solidFill>
            <a:srgbClr val="C00000"/>
          </a:solidFill>
          <a:ln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750" b="1" i="0">
                <a:solidFill>
                  <a:srgbClr val="FFFFFF"/>
                </a:solidFill>
                <a:latin typeface="Calibri"/>
              </a:rPr>
              <a:t>Phase 1</a:t>
            </a:r>
          </a:p>
          <a:p>
            <a:pPr algn="ctr"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Calibri"/>
              </a:rPr>
              <a:t>Week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68880"/>
            <a:ext cx="1711452" cy="1920240"/>
          </a:xfrm>
          <a:prstGeom prst="roundRect">
            <a:avLst>
              <a:gd name="adj" fmla="val 5000"/>
            </a:avLst>
          </a:prstGeom>
          <a:solidFill>
            <a:srgbClr val="FDECEC"/>
          </a:solidFill>
          <a:ln>
            <a:noFill/>
          </a:ln>
        </p:spPr>
        <p:txBody>
          <a:bodyPr wrap="square" lIns="109728" tIns="87782" rIns="109728" bIns="87782" rtlCol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750" b="1" i="0">
                <a:solidFill>
                  <a:srgbClr val="C00000"/>
                </a:solidFill>
                <a:latin typeface="Calibri"/>
              </a:rPr>
              <a:t>Problem Study</a:t>
            </a:r>
          </a:p>
          <a:p>
            <a:pPr marL="182880" indent="-182880" algn="l">
              <a:spcAft>
                <a:spcPts val="400"/>
              </a:spcAft>
              <a:buClr>
                <a:srgbClr val="C00000"/>
              </a:buClr>
              <a:buChar char="•"/>
            </a:pPr>
            <a:r>
              <a:rPr sz="1550" b="0" i="0">
                <a:solidFill>
                  <a:srgbClr val="262626"/>
                </a:solidFill>
                <a:latin typeface="Calibri"/>
              </a:rPr>
              <a:t>Study current system</a:t>
            </a:r>
          </a:p>
          <a:p>
            <a:pPr marL="182880" indent="-182880" algn="l">
              <a:spcAft>
                <a:spcPts val="400"/>
              </a:spcAft>
              <a:buClr>
                <a:srgbClr val="C00000"/>
              </a:buClr>
              <a:buChar char="•"/>
            </a:pPr>
            <a:r>
              <a:rPr sz="1550" b="0" i="0">
                <a:solidFill>
                  <a:srgbClr val="262626"/>
                </a:solidFill>
                <a:latin typeface="Calibri"/>
              </a:rPr>
              <a:t>Finalize requirements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34412" y="1737360"/>
            <a:ext cx="1711452" cy="731520"/>
          </a:xfrm>
          <a:prstGeom prst="roundRect">
            <a:avLst>
              <a:gd name="adj" fmla="val 5000"/>
            </a:avLst>
          </a:prstGeom>
          <a:solidFill>
            <a:srgbClr val="1F4E9E"/>
          </a:solidFill>
          <a:ln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750" b="1" i="0">
                <a:solidFill>
                  <a:srgbClr val="FFFFFF"/>
                </a:solidFill>
                <a:latin typeface="Calibri"/>
              </a:rPr>
              <a:t>Phase 2</a:t>
            </a:r>
          </a:p>
          <a:p>
            <a:pPr algn="ctr"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Calibri"/>
              </a:rPr>
              <a:t>Week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34412" y="2468880"/>
            <a:ext cx="1711452" cy="1920240"/>
          </a:xfrm>
          <a:prstGeom prst="roundRect">
            <a:avLst>
              <a:gd name="adj" fmla="val 5000"/>
            </a:avLst>
          </a:prstGeom>
          <a:solidFill>
            <a:srgbClr val="E8EEFB"/>
          </a:solidFill>
          <a:ln>
            <a:noFill/>
          </a:ln>
        </p:spPr>
        <p:txBody>
          <a:bodyPr wrap="square" lIns="109728" tIns="87782" rIns="109728" bIns="87782" rtlCol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750" b="1" i="0">
                <a:solidFill>
                  <a:srgbClr val="1F4E9E"/>
                </a:solidFill>
                <a:latin typeface="Calibri"/>
              </a:rPr>
              <a:t>Design</a:t>
            </a:r>
          </a:p>
          <a:p>
            <a:pPr marL="182880" indent="-182880" algn="l">
              <a:spcAft>
                <a:spcPts val="400"/>
              </a:spcAft>
              <a:buClr>
                <a:srgbClr val="1F4E9E"/>
              </a:buClr>
              <a:buChar char="•"/>
            </a:pPr>
            <a:r>
              <a:rPr sz="1550" b="0" i="0">
                <a:solidFill>
                  <a:srgbClr val="262626"/>
                </a:solidFill>
                <a:latin typeface="Calibri"/>
              </a:rPr>
              <a:t>Select features</a:t>
            </a:r>
          </a:p>
          <a:p>
            <a:pPr marL="182880" indent="-182880" algn="l">
              <a:spcAft>
                <a:spcPts val="400"/>
              </a:spcAft>
              <a:buClr>
                <a:srgbClr val="1F4E9E"/>
              </a:buClr>
              <a:buChar char="•"/>
            </a:pPr>
            <a:r>
              <a:rPr sz="1550" b="0" i="0">
                <a:solidFill>
                  <a:srgbClr val="262626"/>
                </a:solidFill>
                <a:latin typeface="Calibri"/>
              </a:rPr>
              <a:t>Design screens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7304" y="1737360"/>
            <a:ext cx="1711452" cy="731520"/>
          </a:xfrm>
          <a:prstGeom prst="roundRect">
            <a:avLst>
              <a:gd name="adj" fmla="val 5000"/>
            </a:avLst>
          </a:prstGeom>
          <a:solidFill>
            <a:srgbClr val="0F8F7A"/>
          </a:solidFill>
          <a:ln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750" b="1" i="0">
                <a:solidFill>
                  <a:srgbClr val="FFFFFF"/>
                </a:solidFill>
                <a:latin typeface="Calibri"/>
              </a:rPr>
              <a:t>Phase 3</a:t>
            </a:r>
          </a:p>
          <a:p>
            <a:pPr algn="ctr"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Calibri"/>
              </a:rPr>
              <a:t>Weeks 3-4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7304" y="2468880"/>
            <a:ext cx="1711452" cy="1920240"/>
          </a:xfrm>
          <a:prstGeom prst="roundRect">
            <a:avLst>
              <a:gd name="adj" fmla="val 5000"/>
            </a:avLst>
          </a:prstGeom>
          <a:solidFill>
            <a:srgbClr val="E6F5F1"/>
          </a:solidFill>
          <a:ln>
            <a:noFill/>
          </a:ln>
        </p:spPr>
        <p:txBody>
          <a:bodyPr wrap="square" lIns="109728" tIns="87782" rIns="109728" bIns="87782" rtlCol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750" b="1" i="0">
                <a:solidFill>
                  <a:srgbClr val="0F8F7A"/>
                </a:solidFill>
                <a:latin typeface="Calibri"/>
              </a:rPr>
              <a:t>Development</a:t>
            </a:r>
          </a:p>
          <a:p>
            <a:pPr marL="182880" indent="-182880" algn="l">
              <a:spcAft>
                <a:spcPts val="400"/>
              </a:spcAft>
              <a:buClr>
                <a:srgbClr val="0F8F7A"/>
              </a:buClr>
              <a:buChar char="•"/>
            </a:pPr>
            <a:r>
              <a:rPr sz="1550" b="0" i="0">
                <a:solidFill>
                  <a:srgbClr val="262626"/>
                </a:solidFill>
                <a:latin typeface="Calibri"/>
              </a:rPr>
              <a:t>Login and QR scan</a:t>
            </a:r>
          </a:p>
          <a:p>
            <a:pPr marL="182880" indent="-182880" algn="l">
              <a:spcAft>
                <a:spcPts val="400"/>
              </a:spcAft>
              <a:buClr>
                <a:srgbClr val="0F8F7A"/>
              </a:buClr>
              <a:buChar char="•"/>
            </a:pPr>
            <a:r>
              <a:rPr sz="1550" b="0" i="0">
                <a:solidFill>
                  <a:srgbClr val="262626"/>
                </a:solidFill>
                <a:latin typeface="Calibri"/>
              </a:rPr>
              <a:t>Connect database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0196" y="1737360"/>
            <a:ext cx="1711452" cy="731520"/>
          </a:xfrm>
          <a:prstGeom prst="roundRect">
            <a:avLst>
              <a:gd name="adj" fmla="val 5000"/>
            </a:avLst>
          </a:prstGeom>
          <a:solidFill>
            <a:srgbClr val="C77700"/>
          </a:solidFill>
          <a:ln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750" b="1" i="0">
                <a:solidFill>
                  <a:srgbClr val="FFFFFF"/>
                </a:solidFill>
                <a:latin typeface="Calibri"/>
              </a:rPr>
              <a:t>Phase 4</a:t>
            </a:r>
          </a:p>
          <a:p>
            <a:pPr algn="ctr"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Calibri"/>
              </a:rPr>
              <a:t>Weeks 5-6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0196" y="2468880"/>
            <a:ext cx="1711452" cy="1920240"/>
          </a:xfrm>
          <a:prstGeom prst="roundRect">
            <a:avLst>
              <a:gd name="adj" fmla="val 5000"/>
            </a:avLst>
          </a:prstGeom>
          <a:solidFill>
            <a:srgbClr val="FFF3DC"/>
          </a:solidFill>
          <a:ln>
            <a:noFill/>
          </a:ln>
        </p:spPr>
        <p:txBody>
          <a:bodyPr wrap="square" lIns="109728" tIns="87782" rIns="109728" bIns="87782" rtlCol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750" b="1" i="0">
                <a:solidFill>
                  <a:srgbClr val="C77700"/>
                </a:solidFill>
                <a:latin typeface="Calibri"/>
              </a:rPr>
              <a:t>Analytics</a:t>
            </a:r>
          </a:p>
          <a:p>
            <a:pPr marL="182880" indent="-182880" algn="l">
              <a:spcAft>
                <a:spcPts val="400"/>
              </a:spcAft>
              <a:buClr>
                <a:srgbClr val="C77700"/>
              </a:buClr>
              <a:buChar char="•"/>
            </a:pPr>
            <a:r>
              <a:rPr sz="1550" b="0" i="0">
                <a:solidFill>
                  <a:srgbClr val="262626"/>
                </a:solidFill>
                <a:latin typeface="Calibri"/>
              </a:rPr>
              <a:t>Percentage calculation</a:t>
            </a:r>
          </a:p>
          <a:p>
            <a:pPr marL="182880" indent="-182880" algn="l">
              <a:spcAft>
                <a:spcPts val="400"/>
              </a:spcAft>
              <a:buClr>
                <a:srgbClr val="C77700"/>
              </a:buClr>
              <a:buChar char="•"/>
            </a:pPr>
            <a:r>
              <a:rPr sz="1550" b="0" i="0">
                <a:solidFill>
                  <a:srgbClr val="262626"/>
                </a:solidFill>
                <a:latin typeface="Calibri"/>
              </a:rPr>
              <a:t>Dashboards, alerts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43088" y="1737360"/>
            <a:ext cx="1711452" cy="731520"/>
          </a:xfrm>
          <a:prstGeom prst="roundRect">
            <a:avLst>
              <a:gd name="adj" fmla="val 5000"/>
            </a:avLst>
          </a:prstGeom>
          <a:solidFill>
            <a:srgbClr val="C00000"/>
          </a:solidFill>
          <a:ln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750" b="1" i="0">
                <a:solidFill>
                  <a:srgbClr val="FFFFFF"/>
                </a:solidFill>
                <a:latin typeface="Calibri"/>
              </a:rPr>
              <a:t>Phase 5</a:t>
            </a:r>
          </a:p>
          <a:p>
            <a:pPr algn="ctr"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Calibri"/>
              </a:rPr>
              <a:t>Week 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43088" y="2468880"/>
            <a:ext cx="1711452" cy="1920240"/>
          </a:xfrm>
          <a:prstGeom prst="roundRect">
            <a:avLst>
              <a:gd name="adj" fmla="val 5000"/>
            </a:avLst>
          </a:prstGeom>
          <a:solidFill>
            <a:srgbClr val="FDECEC"/>
          </a:solidFill>
          <a:ln>
            <a:noFill/>
          </a:ln>
        </p:spPr>
        <p:txBody>
          <a:bodyPr wrap="square" lIns="109728" tIns="87782" rIns="109728" bIns="87782" rtlCol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750" b="1" i="0">
                <a:solidFill>
                  <a:srgbClr val="C00000"/>
                </a:solidFill>
                <a:latin typeface="Calibri"/>
              </a:rPr>
              <a:t>Testing</a:t>
            </a:r>
          </a:p>
          <a:p>
            <a:pPr marL="182880" indent="-182880" algn="l">
              <a:spcAft>
                <a:spcPts val="400"/>
              </a:spcAft>
              <a:buClr>
                <a:srgbClr val="C00000"/>
              </a:buClr>
              <a:buChar char="•"/>
            </a:pPr>
            <a:r>
              <a:rPr sz="1550" b="0" i="0">
                <a:solidFill>
                  <a:srgbClr val="262626"/>
                </a:solidFill>
                <a:latin typeface="Calibri"/>
              </a:rPr>
              <a:t>Test and fix errors</a:t>
            </a:r>
          </a:p>
          <a:p>
            <a:pPr marL="182880" indent="-182880" algn="l">
              <a:spcAft>
                <a:spcPts val="400"/>
              </a:spcAft>
              <a:buClr>
                <a:srgbClr val="C00000"/>
              </a:buClr>
              <a:buChar char="•"/>
            </a:pPr>
            <a:r>
              <a:rPr sz="1550" b="0" i="0">
                <a:solidFill>
                  <a:srgbClr val="262626"/>
                </a:solidFill>
                <a:latin typeface="Calibri"/>
              </a:rPr>
              <a:t>Collect feedback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45980" y="1737360"/>
            <a:ext cx="1711452" cy="731520"/>
          </a:xfrm>
          <a:prstGeom prst="roundRect">
            <a:avLst>
              <a:gd name="adj" fmla="val 5000"/>
            </a:avLst>
          </a:prstGeom>
          <a:solidFill>
            <a:srgbClr val="1F4E9E"/>
          </a:solidFill>
          <a:ln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1750" b="1" i="0">
                <a:solidFill>
                  <a:srgbClr val="FFFFFF"/>
                </a:solidFill>
                <a:latin typeface="Calibri"/>
              </a:rPr>
              <a:t>Phase 6</a:t>
            </a:r>
          </a:p>
          <a:p>
            <a:pPr algn="ctr"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Calibri"/>
              </a:rPr>
              <a:t>Week 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45980" y="2468880"/>
            <a:ext cx="1711452" cy="1920240"/>
          </a:xfrm>
          <a:prstGeom prst="roundRect">
            <a:avLst>
              <a:gd name="adj" fmla="val 5000"/>
            </a:avLst>
          </a:prstGeom>
          <a:solidFill>
            <a:srgbClr val="E8EEFB"/>
          </a:solidFill>
          <a:ln>
            <a:noFill/>
          </a:ln>
        </p:spPr>
        <p:txBody>
          <a:bodyPr wrap="square" lIns="109728" tIns="87782" rIns="109728" bIns="87782" rtlCol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1750" b="1" i="0">
                <a:solidFill>
                  <a:srgbClr val="1F4E9E"/>
                </a:solidFill>
                <a:latin typeface="Calibri"/>
              </a:rPr>
              <a:t>Final Prototype</a:t>
            </a:r>
          </a:p>
          <a:p>
            <a:pPr marL="182880" indent="-182880" algn="l">
              <a:spcAft>
                <a:spcPts val="400"/>
              </a:spcAft>
              <a:buClr>
                <a:srgbClr val="1F4E9E"/>
              </a:buClr>
              <a:buChar char="•"/>
            </a:pPr>
            <a:r>
              <a:rPr sz="1550" b="0" i="0">
                <a:solidFill>
                  <a:srgbClr val="262626"/>
                </a:solidFill>
                <a:latin typeface="Calibri"/>
              </a:rPr>
              <a:t>Complete prototype</a:t>
            </a:r>
          </a:p>
          <a:p>
            <a:pPr marL="182880" indent="-182880" algn="l">
              <a:spcAft>
                <a:spcPts val="400"/>
              </a:spcAft>
              <a:buClr>
                <a:srgbClr val="1F4E9E"/>
              </a:buClr>
              <a:buChar char="•"/>
            </a:pPr>
            <a:r>
              <a:rPr sz="1550" b="0" i="0">
                <a:solidFill>
                  <a:srgbClr val="262626"/>
                </a:solidFill>
                <a:latin typeface="Calibri"/>
              </a:rPr>
              <a:t>Demonstration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617720"/>
            <a:ext cx="6858000" cy="1417320"/>
          </a:xfrm>
          <a:prstGeom prst="roundRect">
            <a:avLst>
              <a:gd name="adj" fmla="val 5000"/>
            </a:avLst>
          </a:prstGeom>
          <a:solidFill>
            <a:srgbClr val="F3F3F3"/>
          </a:solidFill>
          <a:ln>
            <a:noFill/>
          </a:ln>
        </p:spPr>
        <p:txBody>
          <a:bodyPr wrap="square" lIns="228600" tIns="182880" rIns="228600" bIns="182880" rtlCol="0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sz="1850" b="1" i="0">
                <a:solidFill>
                  <a:srgbClr val="C00000"/>
                </a:solidFill>
                <a:latin typeface="Calibri"/>
              </a:rPr>
              <a:t>Future Scope</a:t>
            </a:r>
          </a:p>
          <a:p>
            <a:pPr marL="182880" indent="-182880" algn="l">
              <a:spcAft>
                <a:spcPts val="300"/>
              </a:spcAft>
              <a:buClr>
                <a:srgbClr val="C00000"/>
              </a:buClr>
              <a:buChar char="•"/>
            </a:pPr>
            <a:r>
              <a:rPr sz="1550" b="0" i="0">
                <a:solidFill>
                  <a:srgbClr val="262626"/>
                </a:solidFill>
                <a:latin typeface="Calibri"/>
              </a:rPr>
              <a:t>Face recognition</a:t>
            </a:r>
          </a:p>
          <a:p>
            <a:pPr marL="182880" indent="-182880" algn="l">
              <a:spcAft>
                <a:spcPts val="300"/>
              </a:spcAft>
              <a:buClr>
                <a:srgbClr val="C00000"/>
              </a:buClr>
              <a:buChar char="•"/>
            </a:pPr>
            <a:r>
              <a:rPr sz="1550" b="0" i="0">
                <a:solidFill>
                  <a:srgbClr val="262626"/>
                </a:solidFill>
                <a:latin typeface="Calibri"/>
              </a:rPr>
              <a:t>LMS integration</a:t>
            </a:r>
          </a:p>
          <a:p>
            <a:pPr marL="182880" indent="-182880" algn="l">
              <a:spcAft>
                <a:spcPts val="300"/>
              </a:spcAft>
              <a:buClr>
                <a:srgbClr val="C00000"/>
              </a:buClr>
              <a:buChar char="•"/>
            </a:pPr>
            <a:r>
              <a:rPr sz="1550" b="0" i="0">
                <a:solidFill>
                  <a:srgbClr val="262626"/>
                </a:solidFill>
                <a:latin typeface="Calibri"/>
              </a:rPr>
              <a:t>Attendance predictions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4617720"/>
            <a:ext cx="3685032" cy="1417320"/>
          </a:xfrm>
          <a:prstGeom prst="roundRect">
            <a:avLst>
              <a:gd name="adj" fmla="val 5000"/>
            </a:avLst>
          </a:prstGeom>
          <a:solidFill>
            <a:srgbClr val="C00000"/>
          </a:solidFill>
          <a:ln>
            <a:noFill/>
          </a:ln>
        </p:spPr>
        <p:txBody>
          <a:bodyPr wrap="square" lIns="228600" tIns="182880" rIns="228600" bIns="182880" rtlCol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sz="1850" b="1" i="0">
                <a:solidFill>
                  <a:srgbClr val="FFFFFF"/>
                </a:solidFill>
                <a:latin typeface="Calibri"/>
              </a:rPr>
              <a:t>Expected Outcome</a:t>
            </a:r>
          </a:p>
          <a:p>
            <a:pPr algn="l">
              <a:spcAft>
                <a:spcPts val="300"/>
              </a:spcAft>
            </a:pPr>
            <a:r>
              <a:rPr sz="1650" b="0" i="0">
                <a:solidFill>
                  <a:srgbClr val="FFFFFF"/>
                </a:solidFill>
                <a:latin typeface="Calibri"/>
              </a:rPr>
              <a:t>A working app that records attendance and reports percentages automatically.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07986-2359-29F6-4180-A044CA1E4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2710B592-7BF5-4D3F-C5DD-E2D08C146C73}"/>
              </a:ext>
            </a:extLst>
          </p:cNvPr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D1375FA3-9E39-6F66-A04C-DDF478BBEB1E}"/>
                </a:ext>
              </a:extLst>
            </p:cNvPr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D4CDABC-B89C-742C-33C2-9AF5D75B5459}"/>
                </a:ext>
              </a:extLst>
            </p:cNvPr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8B5FB5ED-64E5-F6C1-5BEF-A2681BA7B400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8B9EF8-1C35-CAF1-1532-A38D00D378C1}"/>
              </a:ext>
            </a:extLst>
          </p:cNvPr>
          <p:cNvSpPr txBox="1"/>
          <p:nvPr/>
        </p:nvSpPr>
        <p:spPr>
          <a:xfrm>
            <a:off x="228600" y="194415"/>
            <a:ext cx="2185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PROTOTYPE LINK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2D2701E-4192-FC6E-3585-03F27234C66A}"/>
              </a:ext>
            </a:extLst>
          </p:cNvPr>
          <p:cNvSpPr txBox="1"/>
          <p:nvPr/>
        </p:nvSpPr>
        <p:spPr>
          <a:xfrm>
            <a:off x="193431" y="685800"/>
            <a:ext cx="6101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ASAMS - Attendance Monitoring &amp; Analytics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3011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1520" y="365760"/>
            <a:ext cx="10725912" cy="6949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80" dirty="0"/>
              <a:t>Conclusion &amp; Thank You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-6350" y="6214617"/>
            <a:ext cx="12204700" cy="650240"/>
            <a:chOff x="-6350" y="6214617"/>
            <a:chExt cx="12204700" cy="650240"/>
          </a:xfrm>
        </p:grpSpPr>
        <p:sp>
          <p:nvSpPr>
            <p:cNvPr id="4" name="object 4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12192000" y="0"/>
                  </a:moveTo>
                  <a:lnTo>
                    <a:pt x="0" y="0"/>
                  </a:lnTo>
                  <a:lnTo>
                    <a:pt x="0" y="637032"/>
                  </a:lnTo>
                  <a:lnTo>
                    <a:pt x="12192000" y="63703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220967"/>
              <a:ext cx="12192000" cy="637540"/>
            </a:xfrm>
            <a:custGeom>
              <a:avLst/>
              <a:gdLst/>
              <a:ahLst/>
              <a:cxnLst/>
              <a:rect l="l" t="t" r="r" b="b"/>
              <a:pathLst>
                <a:path w="12192000" h="637540">
                  <a:moveTo>
                    <a:pt x="0" y="637032"/>
                  </a:moveTo>
                  <a:lnTo>
                    <a:pt x="12192000" y="637032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637032"/>
                  </a:lnTo>
                  <a:close/>
                </a:path>
              </a:pathLst>
            </a:custGeom>
            <a:ln w="126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EA7CE7B1-B734-D71E-7FD3-CC0F5022A70E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533400" y="6432753"/>
            <a:ext cx="10820400" cy="2308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lang="en-IN" spc="-80" dirty="0"/>
              <a:t>DTIE   </a:t>
            </a:r>
            <a:r>
              <a:rPr spc="-130" dirty="0"/>
              <a:t>|</a:t>
            </a:r>
            <a:r>
              <a:rPr spc="-110" dirty="0"/>
              <a:t> </a:t>
            </a:r>
            <a:r>
              <a:rPr lang="en-IN" spc="-110" dirty="0"/>
              <a:t>      </a:t>
            </a:r>
            <a:r>
              <a:rPr lang="en-US" spc="-110" dirty="0"/>
              <a:t>Department of Multi Disciplinary Innovation &amp; Entrepreneurship </a:t>
            </a:r>
            <a:endParaRPr spc="-50" dirty="0"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10725912" cy="1600200"/>
          </a:xfrm>
          <a:prstGeom prst="roundRect">
            <a:avLst>
              <a:gd name="adj" fmla="val 5000"/>
            </a:avLst>
          </a:prstGeom>
          <a:solidFill>
            <a:srgbClr val="FBECEC"/>
          </a:solidFill>
          <a:ln>
            <a:noFill/>
          </a:ln>
        </p:spPr>
        <p:txBody>
          <a:bodyPr wrap="square" lIns="228600" tIns="182880" rIns="228600" bIns="182880" rtlCol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2050" b="1" i="0">
                <a:solidFill>
                  <a:srgbClr val="C00000"/>
                </a:solidFill>
                <a:latin typeface="Calibri"/>
              </a:rPr>
              <a:t>Conclusion</a:t>
            </a:r>
          </a:p>
          <a:p>
            <a:pPr algn="l">
              <a:spcAft>
                <a:spcPts val="300"/>
              </a:spcAft>
            </a:pPr>
            <a:r>
              <a:rPr sz="1800" b="0" i="0">
                <a:solidFill>
                  <a:srgbClr val="262626"/>
                </a:solidFill>
                <a:latin typeface="Calibri"/>
              </a:rPr>
              <a:t>Our QR-based system replaces manual registers with fast attendance, automatic percentages and early low-attendance alerts.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3447288" cy="1371600"/>
          </a:xfrm>
          <a:prstGeom prst="roundRect">
            <a:avLst>
              <a:gd name="adj" fmla="val 5000"/>
            </a:avLst>
          </a:prstGeom>
          <a:solidFill>
            <a:srgbClr val="E8EEFB"/>
          </a:solidFill>
          <a:ln>
            <a:noFill/>
          </a:ln>
        </p:spPr>
        <p:txBody>
          <a:bodyPr wrap="square" lIns="182880" tIns="146304" rIns="182880" bIns="146304" rtlCol="0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sz="1900" b="1" i="0">
                <a:solidFill>
                  <a:srgbClr val="1F4E9E"/>
                </a:solidFill>
                <a:latin typeface="Calibri"/>
              </a:rPr>
              <a:t>Saves Time</a:t>
            </a:r>
          </a:p>
          <a:p>
            <a:pPr algn="l">
              <a:spcAft>
                <a:spcPts val="300"/>
              </a:spcAft>
            </a:pPr>
            <a:r>
              <a:rPr sz="1700" b="0" i="0">
                <a:solidFill>
                  <a:srgbClr val="262626"/>
                </a:solidFill>
                <a:latin typeface="Calibri"/>
              </a:rPr>
              <a:t>Faster attendance, no manual work.</a:t>
            </a:r>
          </a:p>
        </p:txBody>
      </p:sp>
      <p:sp>
        <p:nvSpPr>
          <p:cNvPr id="9" name="Oval 8"/>
          <p:cNvSpPr/>
          <p:nvPr/>
        </p:nvSpPr>
        <p:spPr>
          <a:xfrm>
            <a:off x="3493008" y="3310128"/>
            <a:ext cx="457200" cy="457200"/>
          </a:xfrm>
          <a:prstGeom prst="ellipse">
            <a:avLst/>
          </a:prstGeom>
          <a:solidFill>
            <a:srgbClr val="1F4E9E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endParaRPr/>
          </a:p>
        </p:txBody>
      </p:sp>
      <p:pic>
        <p:nvPicPr>
          <p:cNvPr id="10" name="Picture 9" descr="c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7308" y="3424428"/>
            <a:ext cx="228600" cy="2286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370832" y="3200400"/>
            <a:ext cx="3447288" cy="1371600"/>
          </a:xfrm>
          <a:prstGeom prst="roundRect">
            <a:avLst>
              <a:gd name="adj" fmla="val 5000"/>
            </a:avLst>
          </a:prstGeom>
          <a:solidFill>
            <a:srgbClr val="E6F5F1"/>
          </a:solidFill>
          <a:ln>
            <a:noFill/>
          </a:ln>
        </p:spPr>
        <p:txBody>
          <a:bodyPr wrap="square" lIns="182880" tIns="146304" rIns="182880" bIns="146304" rtlCol="0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sz="1900" b="1" i="0">
                <a:solidFill>
                  <a:srgbClr val="0F8F7A"/>
                </a:solidFill>
                <a:latin typeface="Calibri"/>
              </a:rPr>
              <a:t>Accurate &amp; Transparent</a:t>
            </a:r>
          </a:p>
          <a:p>
            <a:pPr algn="l">
              <a:spcAft>
                <a:spcPts val="300"/>
              </a:spcAft>
            </a:pPr>
            <a:r>
              <a:rPr sz="1700" b="0" i="0">
                <a:solidFill>
                  <a:srgbClr val="262626"/>
                </a:solidFill>
                <a:latin typeface="Calibri"/>
              </a:rPr>
              <a:t>Fewer errors; students see their status.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0" y="3310128"/>
            <a:ext cx="457200" cy="457200"/>
          </a:xfrm>
          <a:prstGeom prst="ellipse">
            <a:avLst/>
          </a:prstGeom>
          <a:solidFill>
            <a:srgbClr val="0F8F7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endParaRPr/>
          </a:p>
        </p:txBody>
      </p:sp>
      <p:pic>
        <p:nvPicPr>
          <p:cNvPr id="13" name="Picture 12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6620" y="3424428"/>
            <a:ext cx="228600" cy="2286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010144" y="3200400"/>
            <a:ext cx="3447288" cy="1371600"/>
          </a:xfrm>
          <a:prstGeom prst="roundRect">
            <a:avLst>
              <a:gd name="adj" fmla="val 5000"/>
            </a:avLst>
          </a:prstGeom>
          <a:solidFill>
            <a:srgbClr val="FFF3DC"/>
          </a:solidFill>
          <a:ln>
            <a:noFill/>
          </a:ln>
        </p:spPr>
        <p:txBody>
          <a:bodyPr wrap="square" lIns="182880" tIns="146304" rIns="182880" bIns="146304" rtlCol="0" anchor="t">
            <a:noAutofit/>
          </a:bodyPr>
          <a:lstStyle/>
          <a:p>
            <a:pPr algn="l">
              <a:spcAft>
                <a:spcPts val="500"/>
              </a:spcAft>
            </a:pPr>
            <a:r>
              <a:rPr sz="1900" b="1" i="0">
                <a:solidFill>
                  <a:srgbClr val="C77700"/>
                </a:solidFill>
                <a:latin typeface="Calibri"/>
              </a:rPr>
              <a:t>Smarter Decisions</a:t>
            </a:r>
          </a:p>
          <a:p>
            <a:pPr algn="l">
              <a:spcAft>
                <a:spcPts val="300"/>
              </a:spcAft>
            </a:pPr>
            <a:r>
              <a:rPr sz="1700" b="0" i="0">
                <a:solidFill>
                  <a:srgbClr val="262626"/>
                </a:solidFill>
                <a:latin typeface="Calibri"/>
              </a:rPr>
              <a:t>Alerts help everyone act early.</a:t>
            </a:r>
          </a:p>
        </p:txBody>
      </p:sp>
      <p:sp>
        <p:nvSpPr>
          <p:cNvPr id="15" name="Oval 14"/>
          <p:cNvSpPr/>
          <p:nvPr/>
        </p:nvSpPr>
        <p:spPr>
          <a:xfrm>
            <a:off x="10771632" y="3310128"/>
            <a:ext cx="457200" cy="457200"/>
          </a:xfrm>
          <a:prstGeom prst="ellipse">
            <a:avLst/>
          </a:prstGeom>
          <a:solidFill>
            <a:srgbClr val="C777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</a:pPr>
            <a:endParaRPr/>
          </a:p>
        </p:txBody>
      </p:sp>
      <p:pic>
        <p:nvPicPr>
          <p:cNvPr id="16" name="Picture 15" descr="light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5932" y="3424428"/>
            <a:ext cx="228600" cy="2286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731520" y="4754880"/>
            <a:ext cx="10725912" cy="1234440"/>
          </a:xfrm>
          <a:prstGeom prst="roundRect">
            <a:avLst>
              <a:gd name="adj" fmla="val 5000"/>
            </a:avLst>
          </a:prstGeom>
          <a:solidFill>
            <a:srgbClr val="C00000"/>
          </a:solidFill>
          <a:ln>
            <a:noFill/>
          </a:ln>
        </p:spPr>
        <p:txBody>
          <a:bodyPr wrap="square" tIns="73152" bIns="73152"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sz="4100" b="1" i="0">
                <a:solidFill>
                  <a:srgbClr val="FFFFFF"/>
                </a:solidFill>
                <a:latin typeface="Calibri"/>
              </a:rPr>
              <a:t>Thank You</a:t>
            </a:r>
          </a:p>
          <a:p>
            <a:pPr algn="ctr">
              <a:spcAft>
                <a:spcPts val="300"/>
              </a:spcAft>
            </a:pPr>
            <a:r>
              <a:rPr sz="1900" b="0" i="0">
                <a:solidFill>
                  <a:srgbClr val="FFFFFF"/>
                </a:solidFill>
                <a:latin typeface="Calibri"/>
              </a:rPr>
              <a:t>Questions are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5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Words>1177</Words>
  <Application>Microsoft Office PowerPoint</Application>
  <PresentationFormat>Widescreen</PresentationFormat>
  <Paragraphs>304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Aptos</vt:lpstr>
      <vt:lpstr>Arial</vt:lpstr>
      <vt:lpstr>Arial Nova Light</vt:lpstr>
      <vt:lpstr>Calibri</vt:lpstr>
      <vt:lpstr>Carlito</vt:lpstr>
      <vt:lpstr>Trebuchet MS</vt:lpstr>
      <vt:lpstr>Office Theme</vt:lpstr>
      <vt:lpstr>Dark Gradient</vt:lpstr>
      <vt:lpstr>PowerPoint Presentation</vt:lpstr>
      <vt:lpstr>Automated Student Attendance Monitoring &amp; Analytics System for Colleges</vt:lpstr>
      <vt:lpstr>Team Members</vt:lpstr>
      <vt:lpstr>Vision and Mission</vt:lpstr>
      <vt:lpstr>Problem Statement</vt:lpstr>
      <vt:lpstr>Research / Facts / Market &amp; Industry Study</vt:lpstr>
      <vt:lpstr>Target User - Customer</vt:lpstr>
      <vt:lpstr>Competitors / Benchmarks</vt:lpstr>
      <vt:lpstr>Risks and Gap</vt:lpstr>
      <vt:lpstr>Concept/Idea/Prototype/Product/Solution</vt:lpstr>
      <vt:lpstr>Images/Storyboard/Architecture</vt:lpstr>
      <vt:lpstr>Prototype Screens (Concept)</vt:lpstr>
      <vt:lpstr>Lean Canvas Model</vt:lpstr>
      <vt:lpstr>Capital (Financial)</vt:lpstr>
      <vt:lpstr>Roadmap/Timeline</vt:lpstr>
      <vt:lpstr>PowerPoint Presentation</vt:lpstr>
      <vt:lpstr>Conclusion &amp;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Dr. G. Suresh Kumar</dc:creator>
  <cp:lastModifiedBy>Divya Peruri</cp:lastModifiedBy>
  <cp:revision>8</cp:revision>
  <dcterms:created xsi:type="dcterms:W3CDTF">2024-11-15T04:43:19Z</dcterms:created>
  <dcterms:modified xsi:type="dcterms:W3CDTF">2026-10-18T13:43:41Z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2024-11-15T00:00:00Z</vt:filetime>
  </property>
  <property fmtid="{D5CDD505-2E9C-101B-9397-08002B2CF9AE}" pid="3" name="Producer">
    <vt:lpwstr>3-Heights(TM) PDF Security Shell 4.8.25.2 (http://www.pdf-tools.com)</vt:lpwstr>
  </property>
</Properties>
</file>